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Noto Sans Symbols"/>
      <p:regular r:id="rId20"/>
      <p:bold r:id="rId21"/>
    </p:embeddedFont>
    <p:embeddedFont>
      <p:font typeface="Albert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8EIopLr8d9u3a76WTF12a+7e1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Symbols-regular.fntdata"/><Relationship Id="rId22" Type="http://schemas.openxmlformats.org/officeDocument/2006/relationships/font" Target="fonts/AlbertSans-regular.fntdata"/><Relationship Id="rId21" Type="http://schemas.openxmlformats.org/officeDocument/2006/relationships/font" Target="fonts/NotoSansSymbols-bold.fntdata"/><Relationship Id="rId24" Type="http://schemas.openxmlformats.org/officeDocument/2006/relationships/font" Target="fonts/AlbertSans-italic.fntdata"/><Relationship Id="rId23" Type="http://schemas.openxmlformats.org/officeDocument/2006/relationships/font" Target="fonts/Albert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Albert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Benjamin Boniface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Je vais vous faire la présention de mon l’epreuve E5, Support et mise à disposition de services informatique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t/>
            </a:r>
            <a:endParaRPr/>
          </a:p>
        </p:txBody>
      </p:sp>
      <p:sp>
        <p:nvSpPr>
          <p:cNvPr id="153" name="Google Shape;15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fr-FR" sz="1100"/>
              <a:t>❖ </a:t>
            </a:r>
            <a:r>
              <a:rPr lang="fr-FR"/>
              <a:t>Avant toutes chose je vais me présenter Benjamin Boniface j’ai 33 ans</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J’ai une licence Qualité Securité environnement que j’ai obtenu en 2015</a:t>
            </a:r>
            <a:endParaRPr/>
          </a:p>
          <a:p>
            <a:pPr indent="0" lvl="0" marL="0" rtl="0" algn="l">
              <a:spcBef>
                <a:spcPts val="0"/>
              </a:spcBef>
              <a:spcAft>
                <a:spcPts val="0"/>
              </a:spcAft>
              <a:buNone/>
            </a:pPr>
            <a:r>
              <a:rPr lang="fr-FR"/>
              <a:t>puis j’ai travailler comme responsable QSE en métallurgie durant 3 ans.</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Par la suite je me suis réorienter</a:t>
            </a:r>
            <a:endParaRPr/>
          </a:p>
          <a:p>
            <a:pPr indent="457200" lvl="0" marL="0" rtl="0" algn="l">
              <a:spcBef>
                <a:spcPts val="0"/>
              </a:spcBef>
              <a:spcAft>
                <a:spcPts val="0"/>
              </a:spcAft>
              <a:buNone/>
            </a:pPr>
            <a:r>
              <a:rPr lang="fr-FR"/>
              <a:t>dans des métier totalement différent au contact des animaux dans des association</a:t>
            </a:r>
            <a:endParaRPr/>
          </a:p>
          <a:p>
            <a:pPr indent="457200" lvl="0" marL="0" rtl="0" algn="l">
              <a:spcBef>
                <a:spcPts val="0"/>
              </a:spcBef>
              <a:spcAft>
                <a:spcPts val="0"/>
              </a:spcAft>
              <a:buNone/>
            </a:pPr>
            <a:r>
              <a:rPr lang="fr-FR"/>
              <a:t>ou encore lors de création de ma micro entreprise de travail du bois.</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via ses expérience j’ai eu l’occasion de transmettre a des groupes, des visiteurs, mon travail</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j’ai aimé transmettre mes </a:t>
            </a:r>
            <a:r>
              <a:rPr lang="fr-FR"/>
              <a:t>connaissances</a:t>
            </a:r>
            <a:r>
              <a:rPr lang="fr-FR"/>
              <a: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C’est pourquoi je suis devenu</a:t>
            </a:r>
            <a:r>
              <a:rPr lang="fr-FR"/>
              <a:t> Moniteur d’atelier en ESAT</a:t>
            </a:r>
            <a:endParaRPr/>
          </a:p>
          <a:p>
            <a:pPr indent="0" lvl="0" marL="0" rtl="0" algn="l">
              <a:spcBef>
                <a:spcPts val="0"/>
              </a:spcBef>
              <a:spcAft>
                <a:spcPts val="0"/>
              </a:spcAft>
              <a:buNone/>
            </a:pPr>
            <a:r>
              <a:rPr lang="fr-FR"/>
              <a:t>	-métier qui est basé sur l’andragogie, la transmission de savoir et la monté en compétence des personnes que l’on encadre.</a:t>
            </a:r>
            <a:endParaRPr/>
          </a:p>
          <a:p>
            <a:pPr indent="0" lvl="0" marL="0" rtl="0" algn="l">
              <a:spcBef>
                <a:spcPts val="0"/>
              </a:spcBef>
              <a:spcAft>
                <a:spcPts val="0"/>
              </a:spcAft>
              <a:buNone/>
            </a:pPr>
            <a:r>
              <a:rPr lang="fr-FR"/>
              <a:t>	-Via un support et les valeurs lié au travail</a:t>
            </a:r>
            <a:endParaRPr/>
          </a:p>
        </p:txBody>
      </p:sp>
      <p:sp>
        <p:nvSpPr>
          <p:cNvPr id="161" name="Google Shape;1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Depuis 2023, je fais ce métier à l’ESAT de Domfront-en-Poiraie.</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Cet ESAT fait partie de la Fondation ANAIS</a:t>
            </a:r>
            <a:endParaRPr/>
          </a:p>
          <a:p>
            <a:pPr indent="457200" lvl="0" marL="0" rtl="0" algn="l">
              <a:spcBef>
                <a:spcPts val="0"/>
              </a:spcBef>
              <a:spcAft>
                <a:spcPts val="0"/>
              </a:spcAft>
              <a:buNone/>
            </a:pPr>
            <a:r>
              <a:rPr lang="fr-FR"/>
              <a:t>-elle regroupe plus de 100 structures du médico-social</a:t>
            </a:r>
            <a:endParaRPr/>
          </a:p>
          <a:p>
            <a:pPr indent="457200" lvl="0" marL="0" rtl="0" algn="l">
              <a:spcBef>
                <a:spcPts val="0"/>
              </a:spcBef>
              <a:spcAft>
                <a:spcPts val="0"/>
              </a:spcAft>
              <a:buNone/>
            </a:pPr>
            <a:r>
              <a:rPr lang="fr-FR"/>
              <a:t>-accueillant environ 4 000 personnes,</a:t>
            </a:r>
            <a:endParaRPr/>
          </a:p>
          <a:p>
            <a:pPr indent="457200" lvl="0" marL="0" rtl="0" algn="l">
              <a:spcBef>
                <a:spcPts val="0"/>
              </a:spcBef>
              <a:spcAft>
                <a:spcPts val="0"/>
              </a:spcAft>
              <a:buNone/>
            </a:pPr>
            <a:r>
              <a:rPr lang="fr-FR"/>
              <a:t>-accompagnées par 2 200 collaborateurs.</a:t>
            </a:r>
            <a:endParaRPr/>
          </a:p>
          <a:p>
            <a:pPr indent="457200" lvl="0" marL="0" rtl="0" algn="l">
              <a:spcBef>
                <a:spcPts val="0"/>
              </a:spcBef>
              <a:spcAft>
                <a:spcPts val="0"/>
              </a:spcAft>
              <a:buNone/>
            </a:pPr>
            <a:r>
              <a:rPr lang="fr-FR"/>
              <a:t>-</a:t>
            </a:r>
            <a:r>
              <a:rPr lang="fr-FR"/>
              <a:t>Pour une fondation de cette envergure, le service informatique est composé d’uniquement 3 personnes.</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On peut donc dire que le secteur médico-social reste encore peu doté en ressources numériques.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À l’ESAT de Domfront</a:t>
            </a:r>
            <a:endParaRPr/>
          </a:p>
          <a:p>
            <a:pPr indent="457200" lvl="0" marL="0" rtl="0" algn="l">
              <a:spcBef>
                <a:spcPts val="0"/>
              </a:spcBef>
              <a:spcAft>
                <a:spcPts val="0"/>
              </a:spcAft>
              <a:buNone/>
            </a:pPr>
            <a:r>
              <a:rPr lang="fr-FR"/>
              <a:t>-nous sommes 15 professionnels </a:t>
            </a:r>
            <a:endParaRPr/>
          </a:p>
          <a:p>
            <a:pPr indent="457200" lvl="0" marL="0" rtl="0" algn="l">
              <a:spcBef>
                <a:spcPts val="0"/>
              </a:spcBef>
              <a:spcAft>
                <a:spcPts val="0"/>
              </a:spcAft>
              <a:buNone/>
            </a:pPr>
            <a:r>
              <a:rPr lang="fr-FR"/>
              <a:t>-et nous accompagnons 105 usagers, majoritairement en situation de handicap mental ou psychologique.</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-L’établissement se distingue par une démarche novatrice et militante, notamment dans son ingénierie de formation.</a:t>
            </a:r>
            <a:endParaRPr/>
          </a:p>
          <a:p>
            <a:pPr indent="0" lvl="0" marL="0" rtl="0" algn="l">
              <a:spcBef>
                <a:spcPts val="0"/>
              </a:spcBef>
              <a:spcAft>
                <a:spcPts val="0"/>
              </a:spcAft>
              <a:buNone/>
            </a:pPr>
            <a:br>
              <a:rPr lang="fr-FR"/>
            </a:br>
            <a:r>
              <a:rPr lang="fr-FR"/>
              <a:t>	-Sur les trois dernières années, 9 usagers ont obtenu un CAP d’opérateur logistique grâce à cet accompagnement.</a:t>
            </a:r>
            <a:endParaRPr/>
          </a:p>
          <a:p>
            <a:pPr indent="0" lvl="0" marL="0" rtl="0" algn="l">
              <a:spcBef>
                <a:spcPts val="0"/>
              </a:spcBef>
              <a:spcAft>
                <a:spcPts val="0"/>
              </a:spcAft>
              <a:buNone/>
            </a:pPr>
            <a:r>
              <a:t/>
            </a:r>
            <a:endParaRPr/>
          </a:p>
        </p:txBody>
      </p:sp>
      <p:sp>
        <p:nvSpPr>
          <p:cNvPr id="172" name="Google Shape;1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Mais vous allez peut-être vous demander : pourquoi avoir choisi une formation en BTS SIO ?</a:t>
            </a:r>
            <a:endParaRPr/>
          </a:p>
          <a:p>
            <a:pPr indent="0" lvl="0" marL="0" rtl="0" algn="l">
              <a:spcBef>
                <a:spcPts val="0"/>
              </a:spcBef>
              <a:spcAft>
                <a:spcPts val="0"/>
              </a:spcAft>
              <a:buNone/>
            </a:pPr>
            <a:br>
              <a:rPr lang="fr-FR"/>
            </a:br>
            <a:endParaRPr/>
          </a:p>
          <a:p>
            <a:pPr indent="0" lvl="0" marL="0" rtl="0" algn="l">
              <a:spcBef>
                <a:spcPts val="0"/>
              </a:spcBef>
              <a:spcAft>
                <a:spcPts val="0"/>
              </a:spcAft>
              <a:buNone/>
            </a:pPr>
            <a:r>
              <a:rPr b="1" lang="fr-FR" sz="1100"/>
              <a:t>❖ </a:t>
            </a:r>
            <a:r>
              <a:rPr lang="fr-FR"/>
              <a:t>Nous avons des difficultés à trouver de nouveau partenaire, et avons du mal a nous différentier des autres ESAT.</a:t>
            </a:r>
            <a:endParaRPr/>
          </a:p>
          <a:p>
            <a:pPr indent="0" lvl="0" marL="0" rtl="0" algn="l">
              <a:spcBef>
                <a:spcPts val="0"/>
              </a:spcBef>
              <a:spcAft>
                <a:spcPts val="0"/>
              </a:spcAft>
              <a:buNone/>
            </a:pPr>
            <a:br>
              <a:rPr lang="fr-FR"/>
            </a:br>
            <a:r>
              <a:rPr b="1" lang="fr-FR" sz="1100"/>
              <a:t>❖ </a:t>
            </a:r>
            <a:r>
              <a:rPr lang="fr-FR"/>
              <a:t>Nous avons donc mené des analyses sur notre macro environnement et micro environement , et plusieurs constats sont ressortis.</a:t>
            </a:r>
            <a:endParaRPr/>
          </a:p>
          <a:p>
            <a:pPr indent="0" lvl="0" marL="0" rtl="0" algn="l">
              <a:spcBef>
                <a:spcPts val="0"/>
              </a:spcBef>
              <a:spcAft>
                <a:spcPts val="0"/>
              </a:spcAft>
              <a:buNone/>
            </a:pPr>
            <a:br>
              <a:rPr lang="fr-FR"/>
            </a:br>
            <a:r>
              <a:rPr lang="fr-FR"/>
              <a:t>	-Le premier il faut que l’on forme nos usagers aux numérique</a:t>
            </a:r>
            <a:br>
              <a:rPr lang="fr-FR"/>
            </a:br>
            <a:r>
              <a:rPr lang="fr-FR"/>
              <a:t>	-Pour qu’il puisse réaliser des </a:t>
            </a:r>
            <a:r>
              <a:rPr lang="fr-FR"/>
              <a:t>tâche</a:t>
            </a:r>
            <a:r>
              <a:rPr lang="fr-FR"/>
              <a:t> a plus forte valeur ajouté</a:t>
            </a:r>
            <a:endParaRPr/>
          </a:p>
          <a:p>
            <a:pPr indent="0" lvl="0" marL="0" rtl="0" algn="l">
              <a:spcBef>
                <a:spcPts val="0"/>
              </a:spcBef>
              <a:spcAft>
                <a:spcPts val="0"/>
              </a:spcAft>
              <a:buNone/>
            </a:pPr>
            <a:r>
              <a:rPr lang="fr-FR"/>
              <a:t>	-Et ainsi attaquer de nouveaux marchés</a:t>
            </a:r>
            <a:endParaRPr/>
          </a:p>
          <a:p>
            <a:pPr indent="0" lvl="0" marL="0" rtl="0" algn="l">
              <a:spcBef>
                <a:spcPts val="0"/>
              </a:spcBef>
              <a:spcAft>
                <a:spcPts val="0"/>
              </a:spcAft>
              <a:buNone/>
            </a:pPr>
            <a:br>
              <a:rPr lang="fr-FR"/>
            </a:br>
            <a:r>
              <a:rPr b="1" lang="fr-FR" sz="1100"/>
              <a:t>❖ </a:t>
            </a:r>
            <a:r>
              <a:rPr lang="fr-FR"/>
              <a:t>Pour ça, nous avons besoin d’une ressource capable de créer des outils adaptés à nos usagers, mais aussi aux exigences de production.</a:t>
            </a:r>
            <a:endParaRPr/>
          </a:p>
          <a:p>
            <a:pPr indent="0" lvl="0" marL="0" rtl="0" algn="l">
              <a:spcBef>
                <a:spcPts val="0"/>
              </a:spcBef>
              <a:spcAft>
                <a:spcPts val="0"/>
              </a:spcAft>
              <a:buNone/>
            </a:pPr>
            <a:br>
              <a:rPr lang="fr-FR"/>
            </a:br>
            <a:r>
              <a:rPr lang="fr-FR"/>
              <a:t>	-C’est dans ce cadre que l’établissement m’a proposé le BTS SIO option SLAM.</a:t>
            </a:r>
            <a:endParaRPr/>
          </a:p>
          <a:p>
            <a:pPr indent="0" lvl="0" marL="0" rtl="0" algn="l">
              <a:spcBef>
                <a:spcPts val="0"/>
              </a:spcBef>
              <a:spcAft>
                <a:spcPts val="0"/>
              </a:spcAft>
              <a:buNone/>
            </a:pPr>
            <a:r>
              <a:t/>
            </a:r>
            <a:endParaRPr/>
          </a:p>
        </p:txBody>
      </p:sp>
      <p:sp>
        <p:nvSpPr>
          <p:cNvPr id="182" name="Google Shape;1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Je vais </a:t>
            </a:r>
            <a:r>
              <a:rPr lang="fr-FR"/>
              <a:t>aborder</a:t>
            </a:r>
            <a:r>
              <a:rPr lang="fr-FR"/>
              <a:t> les compétences requise via une démarche par processus</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Séparent volontairement la démarche de production d’un service numérique</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et les compétences pouvant </a:t>
            </a:r>
            <a:r>
              <a:rPr lang="fr-FR"/>
              <a:t>être</a:t>
            </a:r>
            <a:r>
              <a:rPr lang="fr-FR"/>
              <a:t> identifié comme un processus support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1" name="Google Shape;1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un projet commence par une  -analyse du </a:t>
            </a:r>
            <a:r>
              <a:rPr lang="fr-FR"/>
              <a:t>système</a:t>
            </a:r>
            <a:r>
              <a:rPr lang="fr-FR"/>
              <a:t> d’information du client</a:t>
            </a:r>
            <a:endParaRPr/>
          </a:p>
          <a:p>
            <a:pPr indent="457200" lvl="0" marL="1371600" rtl="0" algn="l">
              <a:spcBef>
                <a:spcPts val="0"/>
              </a:spcBef>
              <a:spcAft>
                <a:spcPts val="0"/>
              </a:spcAft>
              <a:buNone/>
            </a:pPr>
            <a:r>
              <a:rPr lang="fr-FR"/>
              <a:t> -puis une proposition d’une une </a:t>
            </a:r>
            <a:r>
              <a:rPr lang="fr-FR"/>
              <a:t>modélisation en lien avec son besoin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Mon premier projet donné en entreprise </a:t>
            </a:r>
            <a:r>
              <a:rPr lang="fr-FR"/>
              <a:t>était</a:t>
            </a:r>
            <a:r>
              <a:rPr lang="fr-FR"/>
              <a:t> : l’informatisation complète de l’activité d’entretien des locaux.</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-L’objectif était de structurer l’ensemble des données de l’activité logiciel proche d’un ERP.</a:t>
            </a:r>
            <a:endParaRPr/>
          </a:p>
          <a:p>
            <a:pPr indent="457200" lvl="0" marL="0" rtl="0" algn="l">
              <a:spcBef>
                <a:spcPts val="0"/>
              </a:spcBef>
              <a:spcAft>
                <a:spcPts val="0"/>
              </a:spcAft>
              <a:buNone/>
            </a:pPr>
            <a:r>
              <a:rPr lang="fr-FR"/>
              <a:t>-J’ai donc analysé les processus existants, recensé les données utilisées, les processus, les procédures</a:t>
            </a:r>
            <a:endParaRPr/>
          </a:p>
          <a:p>
            <a:pPr indent="457200" lvl="0" marL="0" rtl="0" algn="l">
              <a:spcBef>
                <a:spcPts val="0"/>
              </a:spcBef>
              <a:spcAft>
                <a:spcPts val="0"/>
              </a:spcAft>
              <a:buNone/>
            </a:pPr>
            <a:r>
              <a:rPr lang="fr-FR"/>
              <a:t>-J’ai commencé une modélisation globale du système d’information.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Cependant, plusieurs contraintes sont apparues</a:t>
            </a:r>
            <a:endParaRPr/>
          </a:p>
          <a:p>
            <a:pPr indent="457200" lvl="0" marL="0" rtl="0" algn="l">
              <a:spcBef>
                <a:spcPts val="0"/>
              </a:spcBef>
              <a:spcAft>
                <a:spcPts val="0"/>
              </a:spcAft>
              <a:buNone/>
            </a:pPr>
            <a:r>
              <a:rPr lang="fr-FR"/>
              <a:t>- l’ampleur du périmètre</a:t>
            </a:r>
            <a:endParaRPr/>
          </a:p>
          <a:p>
            <a:pPr indent="457200" lvl="0" marL="0" rtl="0" algn="l">
              <a:spcBef>
                <a:spcPts val="0"/>
              </a:spcBef>
              <a:spcAft>
                <a:spcPts val="0"/>
              </a:spcAft>
              <a:buNone/>
            </a:pPr>
            <a:r>
              <a:rPr lang="fr-FR"/>
              <a:t>-Ainsi que la complexité de l’application de gestion de l’application intégrant une très grande liste de fonctionnalité</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-Le projet était trop ambitieux pour être mené seul</a:t>
            </a:r>
            <a:endParaRPr/>
          </a:p>
          <a:p>
            <a:pPr indent="457200" lvl="0" marL="0" rtl="0" algn="l">
              <a:spcBef>
                <a:spcPts val="0"/>
              </a:spcBef>
              <a:spcAft>
                <a:spcPts val="0"/>
              </a:spcAft>
              <a:buNone/>
            </a:pPr>
            <a:r>
              <a:rPr lang="fr-FR"/>
              <a:t>-Encore plus en tant que </a:t>
            </a:r>
            <a:r>
              <a:rPr lang="fr-FR"/>
              <a:t>développeur</a:t>
            </a:r>
            <a:r>
              <a:rPr lang="fr-FR"/>
              <a:t> débutant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Après avoir fait le point avec les personnes impliqué dans le projet.</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-Nous avons donc pris la décision stratégique </a:t>
            </a:r>
            <a:endParaRPr/>
          </a:p>
          <a:p>
            <a:pPr indent="457200" lvl="0" marL="457200" rtl="0" algn="l">
              <a:spcBef>
                <a:spcPts val="0"/>
              </a:spcBef>
              <a:spcAft>
                <a:spcPts val="0"/>
              </a:spcAft>
              <a:buNone/>
            </a:pPr>
            <a:r>
              <a:rPr lang="fr-FR"/>
              <a:t>-de redéfinir le périmètre de l’application</a:t>
            </a:r>
            <a:endParaRPr/>
          </a:p>
          <a:p>
            <a:pPr indent="457200" lvl="0" marL="457200" rtl="0" algn="l">
              <a:spcBef>
                <a:spcPts val="0"/>
              </a:spcBef>
              <a:spcAft>
                <a:spcPts val="0"/>
              </a:spcAft>
              <a:buNone/>
            </a:pPr>
            <a:r>
              <a:rPr lang="fr-FR"/>
              <a:t>-de se focaliser sur une fonctionnalité primordiale pour l’ESAT</a:t>
            </a:r>
            <a:endParaRPr/>
          </a:p>
          <a:p>
            <a:pPr indent="457200" lvl="0" marL="457200" rtl="0" algn="l">
              <a:spcBef>
                <a:spcPts val="0"/>
              </a:spcBef>
              <a:spcAft>
                <a:spcPts val="0"/>
              </a:spcAft>
              <a:buNone/>
            </a:pPr>
            <a:r>
              <a:rPr lang="fr-FR"/>
              <a:t>	-la génération de fiche d’intervention</a:t>
            </a:r>
            <a:endParaRPr/>
          </a:p>
          <a:p>
            <a:pPr indent="45720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05" name="Google Shape;20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Après avoir recentré le projet sur la génération de fiches chantier, il a été repris en formation sous le nom EasyCleanESAT.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Le projet est devenu collaboratif</a:t>
            </a:r>
            <a:endParaRPr/>
          </a:p>
          <a:p>
            <a:pPr indent="457200" lvl="0" marL="0" rtl="0" algn="l">
              <a:spcBef>
                <a:spcPts val="0"/>
              </a:spcBef>
              <a:spcAft>
                <a:spcPts val="0"/>
              </a:spcAft>
              <a:buNone/>
            </a:pPr>
            <a:r>
              <a:rPr lang="fr-FR"/>
              <a:t>-avec les 3 autres </a:t>
            </a:r>
            <a:r>
              <a:rPr lang="fr-FR"/>
              <a:t>développeurs</a:t>
            </a:r>
            <a:r>
              <a:rPr lang="fr-FR"/>
              <a:t> en apprentissage. </a:t>
            </a:r>
            <a:endParaRPr/>
          </a:p>
          <a:p>
            <a:pPr indent="457200" lvl="0" marL="0" rtl="0" algn="l">
              <a:spcBef>
                <a:spcPts val="0"/>
              </a:spcBef>
              <a:spcAft>
                <a:spcPts val="0"/>
              </a:spcAft>
              <a:buClr>
                <a:schemeClr val="dk1"/>
              </a:buClr>
              <a:buFont typeface="Arial"/>
              <a:buNone/>
            </a:pPr>
            <a:r>
              <a:rPr lang="fr-FR"/>
              <a:t>-</a:t>
            </a:r>
            <a:r>
              <a:rPr lang="fr-FR"/>
              <a:t>Il a fallut alors nous organiser afin de faire avancer le projet, nous avons choisi  la méthode SCRUM issue de méthode Agile.</a:t>
            </a:r>
            <a:endParaRPr/>
          </a:p>
          <a:p>
            <a:pPr indent="457200" lvl="0" marL="457200" rtl="0" algn="l">
              <a:spcBef>
                <a:spcPts val="0"/>
              </a:spcBef>
              <a:spcAft>
                <a:spcPts val="0"/>
              </a:spcAft>
              <a:buNone/>
            </a:pPr>
            <a:r>
              <a:rPr lang="fr-FR"/>
              <a:t>-</a:t>
            </a:r>
            <a:r>
              <a:rPr lang="fr-FR"/>
              <a:t>J’ai joué un double rôle, développeur d’une part et représentant client que l’on appel en méthode agile le “ product owner”.</a:t>
            </a:r>
            <a:endParaRPr/>
          </a:p>
          <a:p>
            <a:pPr indent="457200" lvl="0" marL="457200" rtl="0" algn="l">
              <a:spcBef>
                <a:spcPts val="0"/>
              </a:spcBef>
              <a:spcAft>
                <a:spcPts val="0"/>
              </a:spcAft>
              <a:buClr>
                <a:schemeClr val="dk1"/>
              </a:buClr>
              <a:buFont typeface="Arial"/>
              <a:buNone/>
            </a:pPr>
            <a:r>
              <a:rPr lang="fr-FR"/>
              <a:t>-Et par exemple ma collègue à endosser le rôle de Scrum Master et a veillé au bon suivi des méthodes scrums.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fr-FR" sz="1100">
                <a:latin typeface="Trebuchet MS"/>
                <a:ea typeface="Trebuchet MS"/>
                <a:cs typeface="Trebuchet MS"/>
                <a:sym typeface="Trebuchet MS"/>
              </a:rPr>
              <a:t>❖ Nous avons structuré le projet</a:t>
            </a:r>
            <a:endParaRPr/>
          </a:p>
          <a:p>
            <a:pPr indent="457200" lvl="0" marL="0" rtl="0" algn="l">
              <a:spcBef>
                <a:spcPts val="0"/>
              </a:spcBef>
              <a:spcAft>
                <a:spcPts val="0"/>
              </a:spcAft>
              <a:buNone/>
            </a:pPr>
            <a:r>
              <a:rPr lang="fr-FR"/>
              <a:t>- en </a:t>
            </a:r>
            <a:r>
              <a:rPr lang="fr-FR"/>
              <a:t>ÉPICS</a:t>
            </a:r>
            <a:r>
              <a:rPr lang="fr-FR"/>
              <a:t>, qui </a:t>
            </a:r>
            <a:r>
              <a:rPr lang="fr-FR"/>
              <a:t>définissait</a:t>
            </a:r>
            <a:r>
              <a:rPr lang="fr-FR"/>
              <a:t> les grandes fonctionnalités, puis en User Stories plus précises.</a:t>
            </a:r>
            <a:endParaRPr/>
          </a:p>
          <a:p>
            <a:pPr indent="457200" lvl="0" marL="0" rtl="0" algn="l">
              <a:spcBef>
                <a:spcPts val="0"/>
              </a:spcBef>
              <a:spcAft>
                <a:spcPts val="0"/>
              </a:spcAft>
              <a:buNone/>
            </a:pPr>
            <a:r>
              <a:rPr lang="fr-FR"/>
              <a:t>-Chaque User Story a été réfléchi détaillé et </a:t>
            </a:r>
            <a:r>
              <a:rPr lang="fr-FR"/>
              <a:t>calibré et attribué à un développeur</a:t>
            </a:r>
            <a:endParaRPr/>
          </a:p>
          <a:p>
            <a:pPr indent="457200" lvl="0" marL="0" rtl="0" algn="l">
              <a:spcBef>
                <a:spcPts val="0"/>
              </a:spcBef>
              <a:spcAft>
                <a:spcPts val="0"/>
              </a:spcAft>
              <a:buNone/>
            </a:pPr>
            <a:r>
              <a:rPr lang="fr-FR"/>
              <a:t>-Elle ont était</a:t>
            </a:r>
            <a:r>
              <a:rPr lang="fr-FR"/>
              <a:t> ensuite intégrer dans l’outil GitHub Project -&gt; vue sur l’avancement du projet</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Toutes les 2 semaines, nous organisions un temps pour présenter les avancées durant le spint, identifier les difficultés et ajuster les priorités ou de nouvelles modifition a apporter</a:t>
            </a:r>
            <a:endParaRPr/>
          </a:p>
          <a:p>
            <a:pPr indent="457200" lvl="0" marL="0" rtl="0" algn="l">
              <a:spcBef>
                <a:spcPts val="0"/>
              </a:spcBef>
              <a:spcAft>
                <a:spcPts val="0"/>
              </a:spcAft>
              <a:buNone/>
            </a:pPr>
            <a:r>
              <a:rPr lang="fr-FR"/>
              <a:t>Cette organisation m’a permis d’expérimenter concrètement le travail en mode projet Agile</a:t>
            </a:r>
            <a:endParaRPr/>
          </a:p>
          <a:p>
            <a:pPr indent="457200" lvl="0" marL="0" rtl="0" algn="l">
              <a:spcBef>
                <a:spcPts val="0"/>
              </a:spcBef>
              <a:spcAft>
                <a:spcPts val="0"/>
              </a:spcAft>
              <a:buNone/>
            </a:pPr>
            <a:r>
              <a:rPr lang="fr-FR"/>
              <a:t>avec une logique d’itération et d’amélioration en continue.</a:t>
            </a:r>
            <a:endParaRPr/>
          </a:p>
        </p:txBody>
      </p:sp>
      <p:sp>
        <p:nvSpPr>
          <p:cNvPr id="216" name="Google Shape;2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sz="1100">
                <a:latin typeface="Trebuchet MS"/>
                <a:ea typeface="Trebuchet MS"/>
                <a:cs typeface="Trebuchet MS"/>
                <a:sym typeface="Trebuchet MS"/>
              </a:rPr>
              <a:t>❖ </a:t>
            </a:r>
            <a:r>
              <a:rPr lang="fr-FR"/>
              <a:t>Le projet EasyCleanESAT étant collaboratif, nous avons mis en place un repository partagé sur GitHub.</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-Le but </a:t>
            </a:r>
            <a:r>
              <a:rPr lang="fr-FR"/>
              <a:t>étant</a:t>
            </a:r>
            <a:r>
              <a:rPr lang="fr-FR"/>
              <a:t> de pouvoir travailler tous ensemble sur le projet le tout sans avoir de probleme de conflit ou de gestion des versions</a:t>
            </a:r>
            <a:endParaRPr/>
          </a:p>
          <a:p>
            <a:pPr indent="457200" lvl="0" marL="0" rtl="0" algn="l">
              <a:spcBef>
                <a:spcPts val="0"/>
              </a:spcBef>
              <a:spcAft>
                <a:spcPts val="0"/>
              </a:spcAft>
              <a:buNone/>
            </a:pPr>
            <a:r>
              <a:rPr lang="fr-FR"/>
              <a:t>-avec en plus idéalement  un historique centralisé de ses versions.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Chaque nouvelle fonctionnalité était développée sur une branche dédiée correspondant à une US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Pour garantir un suivi de la qualité</a:t>
            </a:r>
            <a:endParaRPr/>
          </a:p>
          <a:p>
            <a:pPr indent="457200" lvl="0" marL="0" rtl="0" algn="l">
              <a:spcBef>
                <a:spcPts val="0"/>
              </a:spcBef>
              <a:spcAft>
                <a:spcPts val="0"/>
              </a:spcAft>
              <a:buNone/>
            </a:pPr>
            <a:r>
              <a:rPr lang="fr-FR"/>
              <a:t>-Une fois le développement terminé de notre US, une pull request était ouverte.</a:t>
            </a:r>
            <a:endParaRPr/>
          </a:p>
          <a:p>
            <a:pPr indent="0" lvl="0" marL="0" rtl="0" algn="l">
              <a:spcBef>
                <a:spcPts val="0"/>
              </a:spcBef>
              <a:spcAft>
                <a:spcPts val="0"/>
              </a:spcAft>
              <a:buNone/>
            </a:pPr>
            <a:r>
              <a:rPr lang="fr-FR"/>
              <a:t>	-Cela permettait à un autre développeur de relire le code avant son intégration.</a:t>
            </a:r>
            <a:endParaRPr/>
          </a:p>
          <a:p>
            <a:pPr indent="457200" lvl="0" marL="0" rtl="0" algn="l">
              <a:spcBef>
                <a:spcPts val="0"/>
              </a:spcBef>
              <a:spcAft>
                <a:spcPts val="0"/>
              </a:spcAft>
              <a:buNone/>
            </a:pPr>
            <a:r>
              <a:rPr lang="fr-FR"/>
              <a:t>-Après validation, la modification était merger sur la branche principale.</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Cette organisation nous a permis d’assurer</a:t>
            </a:r>
            <a:endParaRPr/>
          </a:p>
          <a:p>
            <a:pPr indent="457200" lvl="0" marL="0" rtl="0" algn="l">
              <a:spcBef>
                <a:spcPts val="0"/>
              </a:spcBef>
              <a:spcAft>
                <a:spcPts val="0"/>
              </a:spcAft>
              <a:buNone/>
            </a:pPr>
            <a:r>
              <a:rPr lang="fr-FR"/>
              <a:t>-la traçabilité des évolutions,</a:t>
            </a:r>
            <a:endParaRPr/>
          </a:p>
          <a:p>
            <a:pPr indent="457200" lvl="0" marL="0" rtl="0" algn="l">
              <a:spcBef>
                <a:spcPts val="0"/>
              </a:spcBef>
              <a:spcAft>
                <a:spcPts val="0"/>
              </a:spcAft>
              <a:buNone/>
            </a:pPr>
            <a:r>
              <a:rPr lang="fr-FR"/>
              <a:t>-le suivi des User Stories </a:t>
            </a:r>
            <a:endParaRPr/>
          </a:p>
          <a:p>
            <a:pPr indent="0" lvl="0" marL="457200" rtl="0" algn="l">
              <a:spcBef>
                <a:spcPts val="0"/>
              </a:spcBef>
              <a:spcAft>
                <a:spcPts val="0"/>
              </a:spcAft>
              <a:buNone/>
            </a:pPr>
            <a:r>
              <a:rPr lang="fr-FR"/>
              <a:t>-possibilité de revenir en arrière en cas d’erreur.</a:t>
            </a:r>
            <a:endParaRPr/>
          </a:p>
          <a:p>
            <a:pPr indent="0" lvl="0" marL="0" rtl="0" algn="l">
              <a:spcBef>
                <a:spcPts val="0"/>
              </a:spcBef>
              <a:spcAft>
                <a:spcPts val="0"/>
              </a:spcAft>
              <a:buNone/>
            </a:pPr>
            <a:r>
              <a:t/>
            </a:r>
            <a:endParaRPr/>
          </a:p>
        </p:txBody>
      </p:sp>
      <p:sp>
        <p:nvSpPr>
          <p:cNvPr id="228" name="Google Shape;22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Sur le projet PortfolioBuilder, qui est un autre projet réaliser au centre de formation</a:t>
            </a:r>
            <a:endParaRPr/>
          </a:p>
          <a:p>
            <a:pPr indent="0" lvl="0" marL="0" rtl="0" algn="l">
              <a:spcBef>
                <a:spcPts val="0"/>
              </a:spcBef>
              <a:spcAft>
                <a:spcPts val="0"/>
              </a:spcAft>
              <a:buNone/>
            </a:pPr>
            <a:r>
              <a:t/>
            </a:r>
            <a:endParaRPr b="1" sz="1100"/>
          </a:p>
          <a:p>
            <a:pPr indent="0" lvl="0" marL="0" rtl="0" algn="l">
              <a:spcBef>
                <a:spcPts val="0"/>
              </a:spcBef>
              <a:spcAft>
                <a:spcPts val="0"/>
              </a:spcAft>
              <a:buNone/>
            </a:pPr>
            <a:r>
              <a:rPr b="1" lang="fr-FR" sz="1100"/>
              <a:t>❖	 </a:t>
            </a:r>
            <a:r>
              <a:rPr lang="fr-FR"/>
              <a:t>c’est une application multi-utilisateurs développée avec Spring Boot</a:t>
            </a:r>
            <a:endParaRPr/>
          </a:p>
          <a:p>
            <a:pPr indent="457200" lvl="0" marL="0" rtl="0" algn="l">
              <a:spcBef>
                <a:spcPts val="0"/>
              </a:spcBef>
              <a:spcAft>
                <a:spcPts val="0"/>
              </a:spcAft>
              <a:buNone/>
            </a:pPr>
            <a:r>
              <a:rPr lang="fr-FR"/>
              <a:t> j’ai travaillé sur la sécurisation des accès</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J’ai intégré Spring Security au projet</a:t>
            </a:r>
            <a:endParaRPr/>
          </a:p>
          <a:p>
            <a:pPr indent="457200" lvl="0" marL="0" rtl="0" algn="l">
              <a:spcBef>
                <a:spcPts val="0"/>
              </a:spcBef>
              <a:spcAft>
                <a:spcPts val="0"/>
              </a:spcAft>
              <a:buNone/>
            </a:pPr>
            <a:r>
              <a:rPr lang="fr-FR"/>
              <a:t>-afin de mettre en place un système d’authentification basé sur un identifiant et un mot de passe </a:t>
            </a:r>
            <a:r>
              <a:rPr lang="fr-FR"/>
              <a:t>hashé</a:t>
            </a:r>
            <a:r>
              <a:rPr lang="fr-FR"/>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J’ai créé une entité User en base de données, puis défini deux rôles : ADMIN et USER.</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-Certaines routes sensibles redirige vers une authentification si la personne n’a pas les droit adéquat</a:t>
            </a:r>
            <a:endParaRPr/>
          </a:p>
          <a:p>
            <a:pPr indent="457200" lvl="0" marL="0" rtl="0" algn="l">
              <a:spcBef>
                <a:spcPts val="0"/>
              </a:spcBef>
              <a:spcAft>
                <a:spcPts val="0"/>
              </a:spcAft>
              <a:buNone/>
            </a:pPr>
            <a:r>
              <a:rPr lang="fr-FR"/>
              <a:t>- comme la gestion des utilisateurs ou la suppression de données, sont accessibles uniquement au profil ADMIN.</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J’ai ensuite vérifié le bon fonctionnement des habilitations en testant différents profils utilisateurs pour m’assurer que les restrictions étaient bien appliquées.</a:t>
            </a:r>
            <a:endParaRPr/>
          </a:p>
          <a:p>
            <a:pPr indent="0" lvl="0" marL="0" rtl="0" algn="l">
              <a:spcBef>
                <a:spcPts val="0"/>
              </a:spcBef>
              <a:spcAft>
                <a:spcPts val="0"/>
              </a:spcAft>
              <a:buNone/>
            </a:pPr>
            <a:r>
              <a:t/>
            </a:r>
            <a:endParaRPr/>
          </a:p>
        </p:txBody>
      </p:sp>
      <p:sp>
        <p:nvSpPr>
          <p:cNvPr id="239" name="Google Shape;2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fr-FR" sz="1100"/>
              <a:t>❖ </a:t>
            </a:r>
            <a:r>
              <a:rPr lang="fr-FR"/>
              <a:t>Sur autre projet TestDriven qui est une application de gestion de clients et prestataire , </a:t>
            </a:r>
            <a:r>
              <a:rPr lang="fr-FR"/>
              <a:t>développée</a:t>
            </a:r>
            <a:r>
              <a:rPr lang="fr-FR"/>
              <a:t> sur </a:t>
            </a:r>
            <a:r>
              <a:rPr lang="fr-FR"/>
              <a:t>spring boot</a:t>
            </a:r>
            <a:r>
              <a:rPr lang="fr-FR"/>
              <a:t> que nous avons </a:t>
            </a:r>
            <a:r>
              <a:rPr lang="fr-FR"/>
              <a:t>réalisé</a:t>
            </a:r>
            <a:r>
              <a:rPr lang="fr-FR"/>
              <a:t> au centre de formation, </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-Afin de sécuriser les évolutions du projets</a:t>
            </a:r>
            <a:endParaRPr/>
          </a:p>
          <a:p>
            <a:pPr indent="457200" lvl="0" marL="0" rtl="0" algn="l">
              <a:spcBef>
                <a:spcPts val="0"/>
              </a:spcBef>
              <a:spcAft>
                <a:spcPts val="0"/>
              </a:spcAft>
              <a:buNone/>
            </a:pPr>
            <a:r>
              <a:rPr lang="fr-FR"/>
              <a:t>-Ainsi que la continuité du service</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j’ai mis en place des tests unitaires sur certaines fonctionnalités</a:t>
            </a:r>
            <a:endParaRPr/>
          </a:p>
          <a:p>
            <a:pPr indent="457200" lvl="0" marL="0" rtl="0" algn="l">
              <a:spcBef>
                <a:spcPts val="0"/>
              </a:spcBef>
              <a:spcAft>
                <a:spcPts val="0"/>
              </a:spcAft>
              <a:buNone/>
            </a:pPr>
            <a:r>
              <a:rPr lang="fr-FR"/>
              <a:t>-afin de pouvoir </a:t>
            </a:r>
            <a:r>
              <a:rPr lang="fr-FR"/>
              <a:t>vérifier</a:t>
            </a:r>
            <a:r>
              <a:rPr lang="fr-FR"/>
              <a:t> au fur et a mesure si </a:t>
            </a:r>
            <a:r>
              <a:rPr lang="fr-FR"/>
              <a:t>l'implémentation</a:t>
            </a:r>
            <a:r>
              <a:rPr lang="fr-FR"/>
              <a:t> de nouvelles méthodes ne venait pas perturber une autre.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L’objectif était de vérifier automatiquement que l’ensemble des fonctionnalité de l’application reste fonctionnel après chaque modification.</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-Cette approche limite les régressions </a:t>
            </a:r>
            <a:endParaRPr/>
          </a:p>
          <a:p>
            <a:pPr indent="457200" lvl="0" marL="0" rtl="0" algn="l">
              <a:spcBef>
                <a:spcPts val="0"/>
              </a:spcBef>
              <a:spcAft>
                <a:spcPts val="0"/>
              </a:spcAft>
              <a:buNone/>
            </a:pPr>
            <a:r>
              <a:rPr lang="fr-FR"/>
              <a:t>-Renforce la fiabilité globale du service et sa continuité.</a:t>
            </a:r>
            <a:endParaRPr/>
          </a:p>
        </p:txBody>
      </p:sp>
      <p:sp>
        <p:nvSpPr>
          <p:cNvPr id="252" name="Google Shape;25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fr-FR" sz="1100"/>
              <a:t>❖ </a:t>
            </a:r>
            <a:r>
              <a:rPr lang="fr-FR"/>
              <a:t>Avant la formation, j’avais créé un premier outil sous Excel afin de générer des fiches d’intervention.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sz="1100"/>
              <a:t>❖ </a:t>
            </a:r>
            <a:r>
              <a:rPr lang="fr-FR"/>
              <a:t>Ce mini-logiciel permettait de structurer les informations chantier et de produire des documents normalisés.</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J’ai rédigé une procédure d’utilisation simple ainsi qu’une procédure de mise à jour des données, afin d’assurer la pérennité de l’outil.</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J’ai présenté le logiciel lors de la réunion hebdomadaire avec l’ensemble des employés de l’esat</a:t>
            </a:r>
            <a:endParaRPr/>
          </a:p>
          <a:p>
            <a:pPr indent="0" lvl="0" marL="0" rtl="0" algn="l">
              <a:spcBef>
                <a:spcPts val="0"/>
              </a:spcBef>
              <a:spcAft>
                <a:spcPts val="0"/>
              </a:spcAft>
              <a:buNone/>
            </a:pPr>
            <a:r>
              <a:rPr lang="fr-FR"/>
              <a:t> puis des temps de formation en tête-à-tête ont été organisés pour accompagner les utilisateurs dans sa prise en main.</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L’objectif était de sécuriser l’usage de l’outil et de permettre une utilisation autonome par les professionnels ayant des connaissances </a:t>
            </a:r>
            <a:r>
              <a:rPr lang="fr-FR"/>
              <a:t>même</a:t>
            </a:r>
            <a:r>
              <a:rPr lang="fr-FR"/>
              <a:t> limités en bureautique.</a:t>
            </a:r>
            <a:endParaRPr/>
          </a:p>
          <a:p>
            <a:pPr indent="0" lvl="0" marL="0" rtl="0" algn="l">
              <a:spcBef>
                <a:spcPts val="0"/>
              </a:spcBef>
              <a:spcAft>
                <a:spcPts val="0"/>
              </a:spcAft>
              <a:buNone/>
            </a:pPr>
            <a:r>
              <a:t/>
            </a:r>
            <a:endParaRPr/>
          </a:p>
        </p:txBody>
      </p:sp>
      <p:sp>
        <p:nvSpPr>
          <p:cNvPr id="265" name="Google Shape;26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sz="1100">
                <a:latin typeface="Trebuchet MS"/>
                <a:ea typeface="Trebuchet MS"/>
                <a:cs typeface="Trebuchet MS"/>
                <a:sym typeface="Trebuchet MS"/>
              </a:rPr>
              <a:t>❖ </a:t>
            </a:r>
            <a:r>
              <a:rPr lang="fr-FR"/>
              <a:t>Concernant la valorisation de l’ESAT, la communication institutionnelle est normalement centralisée par la Fondation ANAIS.</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Je devais réaliser une immersion auprès du service communication au siège, mais celui-ci était en pleine restructuration et n’était pas en mesure de m</a:t>
            </a:r>
            <a:r>
              <a:rPr lang="fr-FR"/>
              <a:t>'accueillir</a:t>
            </a:r>
            <a:r>
              <a:rPr lang="fr-FR"/>
              <a:t>.</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J’ai donc adapté ma démarche en m’intéressant à la </a:t>
            </a:r>
            <a:r>
              <a:rPr lang="fr-FR"/>
              <a:t>communication mise</a:t>
            </a:r>
            <a:r>
              <a:rPr lang="fr-FR"/>
              <a:t> en place par le directeur de l’ESAT Monsieur Franck Antier via LinkedIn.</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Sa stratégie repose sur deux axes :</a:t>
            </a:r>
            <a:endParaRPr/>
          </a:p>
          <a:p>
            <a:pPr indent="0" lvl="0" marL="0" rtl="0" algn="l">
              <a:spcBef>
                <a:spcPts val="0"/>
              </a:spcBef>
              <a:spcAft>
                <a:spcPts val="0"/>
              </a:spcAft>
              <a:buNone/>
            </a:pPr>
            <a:r>
              <a:rPr lang="fr-FR"/>
              <a:t>	-valoriser nos pratiques auprès des acteurs du médico-social, dans le but de montrer à tous les acteurs du médico-social que la transformation de ses établissement est possible à </a:t>
            </a:r>
            <a:r>
              <a:rPr lang="fr-FR"/>
              <a:t>coût</a:t>
            </a:r>
            <a:r>
              <a:rPr lang="fr-FR"/>
              <a:t> constant.</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	-La </a:t>
            </a:r>
            <a:r>
              <a:rPr lang="fr-FR"/>
              <a:t>deuxième</a:t>
            </a:r>
            <a:r>
              <a:rPr lang="fr-FR"/>
              <a:t>, promouvoir notre savoir-faire et les compétences de nos usagers afin d’attirer de nouveaux partenaires.</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a:t>
            </a:r>
            <a:r>
              <a:rPr lang="fr-FR"/>
              <a:t>Nous avons organisé un vote interne pour recueillir l’accord du personnel, et chaque personne apparaissant sur les réseaux sociaux a signé un consentement écrit, afin de respecter le droit à l’image.</a:t>
            </a:r>
            <a:endParaRPr/>
          </a:p>
        </p:txBody>
      </p:sp>
      <p:sp>
        <p:nvSpPr>
          <p:cNvPr id="281" name="Google Shape;28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Pour maintenir le </a:t>
            </a:r>
            <a:r>
              <a:rPr lang="fr-FR"/>
              <a:t>développement</a:t>
            </a:r>
            <a:r>
              <a:rPr lang="fr-FR"/>
              <a:t> de mes compétences </a:t>
            </a:r>
            <a:r>
              <a:rPr lang="fr-FR"/>
              <a:t>professionnels du numérique je me suis concentré principalement sur 4  sujet </a:t>
            </a:r>
            <a:endParaRPr/>
          </a:p>
          <a:p>
            <a:pPr indent="457200" lvl="0" marL="0" rtl="0" algn="l">
              <a:spcBef>
                <a:spcPts val="0"/>
              </a:spcBef>
              <a:spcAft>
                <a:spcPts val="0"/>
              </a:spcAft>
              <a:buNone/>
            </a:pPr>
            <a:r>
              <a:rPr lang="fr-FR"/>
              <a:t>cybersécurité</a:t>
            </a:r>
            <a:endParaRPr/>
          </a:p>
          <a:p>
            <a:pPr indent="457200" lvl="0" marL="0" rtl="0" algn="l">
              <a:spcBef>
                <a:spcPts val="0"/>
              </a:spcBef>
              <a:spcAft>
                <a:spcPts val="0"/>
              </a:spcAft>
              <a:buNone/>
            </a:pPr>
            <a:r>
              <a:rPr lang="fr-FR"/>
              <a:t>le </a:t>
            </a:r>
            <a:r>
              <a:rPr lang="fr-FR"/>
              <a:t>développement</a:t>
            </a:r>
            <a:r>
              <a:rPr lang="fr-FR"/>
              <a:t>  compétences techniques </a:t>
            </a:r>
            <a:endParaRPr/>
          </a:p>
          <a:p>
            <a:pPr indent="457200" lvl="0" marL="0" rtl="0" algn="l">
              <a:spcBef>
                <a:spcPts val="0"/>
              </a:spcBef>
              <a:spcAft>
                <a:spcPts val="0"/>
              </a:spcAft>
              <a:buNone/>
            </a:pPr>
            <a:r>
              <a:rPr lang="fr-FR"/>
              <a:t>l’intelligence artificielle</a:t>
            </a:r>
            <a:endParaRPr/>
          </a:p>
          <a:p>
            <a:pPr indent="457200" lvl="0" marL="0" rtl="0" algn="l">
              <a:spcBef>
                <a:spcPts val="0"/>
              </a:spcBef>
              <a:spcAft>
                <a:spcPts val="0"/>
              </a:spcAft>
              <a:buNone/>
            </a:pPr>
            <a:r>
              <a:rPr lang="fr-FR"/>
              <a:t>la </a:t>
            </a:r>
            <a:r>
              <a:rPr lang="fr-FR"/>
              <a:t>législation</a:t>
            </a:r>
            <a:r>
              <a:rPr lang="fr-FR"/>
              <a:t>.</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 Je me suis formé en continue</a:t>
            </a:r>
            <a:endParaRPr sz="1100">
              <a:latin typeface="Trebuchet MS"/>
              <a:ea typeface="Trebuchet MS"/>
              <a:cs typeface="Trebuchet MS"/>
              <a:sym typeface="Trebuchet MS"/>
            </a:endParaRPr>
          </a:p>
          <a:p>
            <a:pPr indent="0" lvl="0" marL="0" rtl="0" algn="l">
              <a:spcBef>
                <a:spcPts val="0"/>
              </a:spcBef>
              <a:spcAft>
                <a:spcPts val="0"/>
              </a:spcAft>
              <a:buNone/>
            </a:pPr>
            <a:r>
              <a:rPr lang="fr-FR"/>
              <a:t>-</a:t>
            </a:r>
            <a:r>
              <a:rPr lang="fr-FR"/>
              <a:t>Sur le volet cybersécurité</a:t>
            </a:r>
            <a:endParaRPr/>
          </a:p>
          <a:p>
            <a:pPr indent="457200" lvl="0" marL="0" rtl="0" algn="l">
              <a:spcBef>
                <a:spcPts val="0"/>
              </a:spcBef>
              <a:spcAft>
                <a:spcPts val="0"/>
              </a:spcAft>
              <a:buNone/>
            </a:pPr>
            <a:r>
              <a:rPr lang="fr-FR"/>
              <a:t> -j’ai obtenu la certification SecNumAcadémie </a:t>
            </a:r>
            <a:endParaRPr/>
          </a:p>
          <a:p>
            <a:pPr indent="457200" lvl="0" marL="0" rtl="0" algn="l">
              <a:spcBef>
                <a:spcPts val="0"/>
              </a:spcBef>
              <a:spcAft>
                <a:spcPts val="0"/>
              </a:spcAft>
              <a:buNone/>
            </a:pPr>
            <a:r>
              <a:rPr lang="fr-FR"/>
              <a:t>participé à des exercices de type Capture The Flag sur la plateforme Passetonhack et rootme.</a:t>
            </a:r>
            <a:endParaRPr/>
          </a:p>
          <a:p>
            <a:pPr indent="0" lvl="0" marL="0" rtl="0" algn="l">
              <a:spcBef>
                <a:spcPts val="0"/>
              </a:spcBef>
              <a:spcAft>
                <a:spcPts val="0"/>
              </a:spcAft>
              <a:buNone/>
            </a:pPr>
            <a:br>
              <a:rPr lang="fr-FR"/>
            </a:br>
            <a:r>
              <a:rPr lang="fr-FR"/>
              <a:t>	-Ces exercices m’ont permis de comprendre concrètement les logiques d’attaque et de défense d’un logiciel.</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-D’un point de vue technique, j’ai suivi des formations sur VBA et Access via OpenClassrooms afin de renforcer mes compétences en développement d’outils métiers adaptés à l’ESAT.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sz="1100">
                <a:latin typeface="Trebuchet MS"/>
                <a:ea typeface="Trebuchet MS"/>
                <a:cs typeface="Trebuchet MS"/>
                <a:sym typeface="Trebuchet MS"/>
              </a:rPr>
              <a:t>❖</a:t>
            </a:r>
            <a:r>
              <a:rPr lang="fr-FR"/>
              <a:t>J’ai mis en place une veille active technique et </a:t>
            </a:r>
            <a:r>
              <a:rPr lang="fr-FR"/>
              <a:t>réglementaire</a:t>
            </a:r>
            <a:r>
              <a:rPr lang="fr-FR"/>
              <a:t> sur ces sujet également afin de rester informer sur les différentes évolutions concernant ses sujet</a:t>
            </a:r>
            <a:endParaRPr/>
          </a:p>
          <a:p>
            <a:pPr indent="0" lvl="0" marL="0" rtl="0" algn="l">
              <a:spcBef>
                <a:spcPts val="0"/>
              </a:spcBef>
              <a:spcAft>
                <a:spcPts val="0"/>
              </a:spcAft>
              <a:buNone/>
            </a:pPr>
            <a:br>
              <a:rPr lang="fr-FR"/>
            </a:br>
            <a:r>
              <a:rPr lang="fr-FR"/>
              <a:t>	-Je m’informe notamment via des chaînes youtube spécialisées comme IA Stratégie pour avoir les derniere fonctionnalité ou avancé de l’IA pour me permettre d’adapter mon comportement en entreprise en utilisant les outils les plus performant, ou encore d’integrer l’IA dans mes pratiques dans les tâches les plus répétitives</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fr-FR"/>
              <a:t>-j’utilise également flux RSS via Feedly pour suivre -les nouvelles formations sur </a:t>
            </a:r>
            <a:r>
              <a:rPr lang="fr-FR"/>
              <a:t>openclassroom</a:t>
            </a:r>
            <a:r>
              <a:rPr lang="fr-FR"/>
              <a:t> concernant l’IA</a:t>
            </a:r>
            <a:endParaRPr/>
          </a:p>
          <a:p>
            <a:pPr indent="457200" lvl="0" marL="0" rtl="0" algn="l">
              <a:spcBef>
                <a:spcPts val="0"/>
              </a:spcBef>
              <a:spcAft>
                <a:spcPts val="0"/>
              </a:spcAft>
              <a:buNone/>
            </a:pPr>
            <a:r>
              <a:rPr lang="fr-FR"/>
              <a:t>pour etre informer des nouvelles formation que la plateforme propose à propos du numérique</a:t>
            </a:r>
            <a:endParaRPr/>
          </a:p>
          <a:p>
            <a:pPr indent="457200" lvl="0" marL="0" rtl="0" algn="l">
              <a:spcBef>
                <a:spcPts val="0"/>
              </a:spcBef>
              <a:spcAft>
                <a:spcPts val="0"/>
              </a:spcAft>
              <a:buNone/>
            </a:pPr>
            <a:r>
              <a:t/>
            </a:r>
            <a:endParaRPr/>
          </a:p>
          <a:p>
            <a:pPr indent="457200" lvl="0" marL="0" rtl="0" algn="l">
              <a:spcBef>
                <a:spcPts val="0"/>
              </a:spcBef>
              <a:spcAft>
                <a:spcPts val="0"/>
              </a:spcAft>
              <a:buNone/>
            </a:pPr>
            <a:r>
              <a:rPr lang="fr-FR"/>
              <a:t>-Sur feedly je suis tenu également informé les différentes failles remonté par la CNIL ce qui me permet par exemple d’identifier si certaines de mes données personnelle peuvent avoir fuité ou encore sur les nouvelles technique malveillante pouvant etre évité.</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6" name="Google Shape;29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Ces différentes expériences m’ont permis d’analyser un métier, de structurer un système d’information et de travailler en mode projet collaboratif.</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J’ai pu concevoir, sécuriser et mettre à disposition des outils adaptés au terrain.</a:t>
            </a:r>
            <a:endParaRPr/>
          </a:p>
          <a:p>
            <a:pPr indent="0" lvl="0" marL="0" rtl="0" algn="l">
              <a:spcBef>
                <a:spcPts val="0"/>
              </a:spcBef>
              <a:spcAft>
                <a:spcPts val="0"/>
              </a:spcAft>
              <a:buNone/>
            </a:pPr>
            <a:r>
              <a:t/>
            </a:r>
            <a:endParaRPr/>
          </a:p>
          <a:p>
            <a:pPr indent="0" lvl="0" marL="0" rtl="0" algn="l">
              <a:spcBef>
                <a:spcPts val="0"/>
              </a:spcBef>
              <a:spcAft>
                <a:spcPts val="0"/>
              </a:spcAft>
              <a:buNone/>
            </a:pPr>
            <a:r>
              <a:rPr lang="fr-FR"/>
              <a:t>À terme, ces compétences me permettront de contribuer au développement numérique de l’ESAT, de soutenir la montée en compétence des usagers et de participer à la pérennité de l’établissement.</a:t>
            </a:r>
            <a:endParaRPr/>
          </a:p>
          <a:p>
            <a:pPr indent="0" lvl="0" marL="0" rtl="0" algn="l">
              <a:spcBef>
                <a:spcPts val="0"/>
              </a:spcBef>
              <a:spcAft>
                <a:spcPts val="0"/>
              </a:spcAft>
              <a:buNone/>
            </a:pPr>
            <a:r>
              <a:t/>
            </a:r>
            <a:endParaRPr/>
          </a:p>
        </p:txBody>
      </p:sp>
      <p:sp>
        <p:nvSpPr>
          <p:cNvPr id="314" name="Google Shape;3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d5ad70b5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cd5ad70b5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Merci de votre écoute.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5" name="Google Shape;325;g3cd5ad70b5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6" name="Shape 26"/>
        <p:cNvGrpSpPr/>
        <p:nvPr/>
      </p:nvGrpSpPr>
      <p:grpSpPr>
        <a:xfrm>
          <a:off x="0" y="0"/>
          <a:ext cx="0" cy="0"/>
          <a:chOff x="0" y="0"/>
          <a:chExt cx="0" cy="0"/>
        </a:xfrm>
      </p:grpSpPr>
      <p:sp>
        <p:nvSpPr>
          <p:cNvPr id="27" name="Google Shape;27;p16"/>
          <p:cNvSpPr txBox="1"/>
          <p:nvPr>
            <p:ph type="title"/>
          </p:nvPr>
        </p:nvSpPr>
        <p:spPr>
          <a:xfrm>
            <a:off x="421560" y="622800"/>
            <a:ext cx="4283640" cy="997560"/>
          </a:xfrm>
          <a:prstGeom prst="rect">
            <a:avLst/>
          </a:prstGeom>
          <a:noFill/>
          <a:ln>
            <a:noFill/>
          </a:ln>
        </p:spPr>
        <p:txBody>
          <a:bodyPr anchorCtr="0" anchor="ctr" bIns="0" lIns="0" spcFirstLastPara="1" rIns="0" wrap="square" tIns="0">
            <a:sp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750"/>
              </a:spcBef>
              <a:spcAft>
                <a:spcPts val="0"/>
              </a:spcAft>
              <a:buSzPts val="1440"/>
              <a:buChar char="►"/>
              <a:defRPr/>
            </a:lvl1pPr>
            <a:lvl2pPr lvl="1" algn="l">
              <a:spcBef>
                <a:spcPts val="750"/>
              </a:spcBef>
              <a:spcAft>
                <a:spcPts val="0"/>
              </a:spcAft>
              <a:buSzPts val="1440"/>
              <a:buChar char="►"/>
              <a:defRPr/>
            </a:lvl2pPr>
            <a:lvl3pPr lvl="2" algn="l">
              <a:spcBef>
                <a:spcPts val="750"/>
              </a:spcBef>
              <a:spcAft>
                <a:spcPts val="0"/>
              </a:spcAft>
              <a:buSzPts val="1440"/>
              <a:buChar char="►"/>
              <a:defRPr/>
            </a:lvl3pPr>
            <a:lvl4pPr lvl="3" algn="l">
              <a:spcBef>
                <a:spcPts val="750"/>
              </a:spcBef>
              <a:spcAft>
                <a:spcPts val="0"/>
              </a:spcAft>
              <a:buSzPts val="1440"/>
              <a:buChar char="►"/>
              <a:defRPr/>
            </a:lvl4pPr>
            <a:lvl5pPr lvl="4" algn="l">
              <a:spcBef>
                <a:spcPts val="750"/>
              </a:spcBef>
              <a:spcAft>
                <a:spcPts val="0"/>
              </a:spcAft>
              <a:buSzPts val="1440"/>
              <a:buChar char="►"/>
              <a:defRPr/>
            </a:lvl5pPr>
            <a:lvl6pPr lvl="5" algn="l">
              <a:spcBef>
                <a:spcPts val="750"/>
              </a:spcBef>
              <a:spcAft>
                <a:spcPts val="0"/>
              </a:spcAft>
              <a:buSzPts val="1440"/>
              <a:buChar char="►"/>
              <a:defRPr/>
            </a:lvl6pPr>
            <a:lvl7pPr lvl="6" algn="l">
              <a:spcBef>
                <a:spcPts val="750"/>
              </a:spcBef>
              <a:spcAft>
                <a:spcPts val="0"/>
              </a:spcAft>
              <a:buSzPts val="1440"/>
              <a:buChar char="►"/>
              <a:defRPr/>
            </a:lvl7pPr>
            <a:lvl8pPr lvl="7" algn="l">
              <a:spcBef>
                <a:spcPts val="750"/>
              </a:spcBef>
              <a:spcAft>
                <a:spcPts val="0"/>
              </a:spcAft>
              <a:buSzPts val="1440"/>
              <a:buChar char="►"/>
              <a:defRPr/>
            </a:lvl8pPr>
            <a:lvl9pPr lvl="8" algn="l">
              <a:spcBef>
                <a:spcPts val="750"/>
              </a:spcBef>
              <a:spcAft>
                <a:spcPts val="0"/>
              </a:spcAft>
              <a:buSzPts val="144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_1" type="blank">
  <p:cSld name="BLANK">
    <p:spTree>
      <p:nvGrpSpPr>
        <p:cNvPr id="29" name="Shape 29"/>
        <p:cNvGrpSpPr/>
        <p:nvPr/>
      </p:nvGrpSpPr>
      <p:grpSpPr>
        <a:xfrm>
          <a:off x="0" y="0"/>
          <a:ext cx="0" cy="0"/>
          <a:chOff x="0" y="0"/>
          <a:chExt cx="0" cy="0"/>
        </a:xfrm>
      </p:grpSpPr>
      <p:sp>
        <p:nvSpPr>
          <p:cNvPr id="30" name="Google Shape;30;p17"/>
          <p:cNvSpPr txBox="1"/>
          <p:nvPr>
            <p:ph idx="1" type="body"/>
          </p:nvPr>
        </p:nvSpPr>
        <p:spPr>
          <a:xfrm>
            <a:off x="330840" y="1090080"/>
            <a:ext cx="4294080" cy="3109320"/>
          </a:xfrm>
          <a:prstGeom prst="rect">
            <a:avLst/>
          </a:prstGeom>
          <a:noFill/>
          <a:ln>
            <a:noFill/>
          </a:ln>
        </p:spPr>
        <p:txBody>
          <a:bodyPr anchorCtr="0" anchor="t" bIns="91425" lIns="91425" spcFirstLastPara="1" rIns="91425" wrap="square" tIns="91425">
            <a:no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31" name="Google Shape;31;p17"/>
          <p:cNvSpPr txBox="1"/>
          <p:nvPr>
            <p:ph idx="2" type="body"/>
          </p:nvPr>
        </p:nvSpPr>
        <p:spPr>
          <a:xfrm>
            <a:off x="5623200" y="130680"/>
            <a:ext cx="3395160" cy="4876920"/>
          </a:xfrm>
          <a:prstGeom prst="rect">
            <a:avLst/>
          </a:prstGeom>
          <a:noFill/>
          <a:ln>
            <a:noFill/>
          </a:ln>
        </p:spPr>
        <p:txBody>
          <a:bodyPr anchorCtr="0" anchor="t" bIns="45000" lIns="90000" spcFirstLastPara="1" rIns="90000" wrap="square" tIns="450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32" name="Google Shape;32;p17"/>
          <p:cNvSpPr txBox="1"/>
          <p:nvPr>
            <p:ph type="title"/>
          </p:nvPr>
        </p:nvSpPr>
        <p:spPr>
          <a:xfrm>
            <a:off x="330840" y="312120"/>
            <a:ext cx="4294080" cy="652320"/>
          </a:xfrm>
          <a:prstGeom prst="rect">
            <a:avLst/>
          </a:prstGeom>
          <a:noFill/>
          <a:ln>
            <a:noFill/>
          </a:ln>
        </p:spPr>
        <p:txBody>
          <a:bodyPr anchorCtr="0" anchor="t" bIns="91425" lIns="91425" spcFirstLastPara="1" rIns="91425" wrap="square" tIns="91425">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p:spTree>
      <p:nvGrpSpPr>
        <p:cNvPr id="33" name="Shape 33"/>
        <p:cNvGrpSpPr/>
        <p:nvPr/>
      </p:nvGrpSpPr>
      <p:grpSpPr>
        <a:xfrm>
          <a:off x="0" y="0"/>
          <a:ext cx="0" cy="0"/>
          <a:chOff x="0" y="0"/>
          <a:chExt cx="0" cy="0"/>
        </a:xfrm>
      </p:grpSpPr>
      <p:grpSp>
        <p:nvGrpSpPr>
          <p:cNvPr id="34" name="Google Shape;34;p18"/>
          <p:cNvGrpSpPr/>
          <p:nvPr/>
        </p:nvGrpSpPr>
        <p:grpSpPr>
          <a:xfrm>
            <a:off x="0" y="-6350"/>
            <a:ext cx="9144000" cy="5149850"/>
            <a:chOff x="0" y="-8467"/>
            <a:chExt cx="12192000" cy="6866467"/>
          </a:xfrm>
        </p:grpSpPr>
        <p:sp>
          <p:nvSpPr>
            <p:cNvPr id="35" name="Google Shape;35;p18"/>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36" name="Google Shape;36;p18"/>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37" name="Google Shape;37;p18"/>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38" name="Google Shape;38;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39" name="Google Shape;39;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40" name="Google Shape;40;p1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42" name="Google Shape;42;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43" name="Google Shape;43;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44" name="Google Shape;44;p1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18"/>
          <p:cNvSpPr txBox="1"/>
          <p:nvPr>
            <p:ph type="ctrTitle"/>
          </p:nvPr>
        </p:nvSpPr>
        <p:spPr>
          <a:xfrm>
            <a:off x="1130300" y="1803400"/>
            <a:ext cx="5825202" cy="1234727"/>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4050"/>
              <a:buFont typeface="Trebuchet MS"/>
              <a:buNone/>
              <a:defRPr sz="405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8"/>
          <p:cNvSpPr txBox="1"/>
          <p:nvPr>
            <p:ph idx="1" type="subTitle"/>
          </p:nvPr>
        </p:nvSpPr>
        <p:spPr>
          <a:xfrm>
            <a:off x="1130300" y="3038125"/>
            <a:ext cx="5825202" cy="822674"/>
          </a:xfrm>
          <a:prstGeom prst="rect">
            <a:avLst/>
          </a:prstGeom>
          <a:noFill/>
          <a:ln>
            <a:noFill/>
          </a:ln>
        </p:spPr>
        <p:txBody>
          <a:bodyPr anchorCtr="0" anchor="t" bIns="45700" lIns="91425" spcFirstLastPara="1" rIns="91425" wrap="square" tIns="45700">
            <a:normAutofit/>
          </a:bodyPr>
          <a:lstStyle>
            <a:lvl1pPr lvl="0" algn="r">
              <a:spcBef>
                <a:spcPts val="750"/>
              </a:spcBef>
              <a:spcAft>
                <a:spcPts val="0"/>
              </a:spcAft>
              <a:buSzPts val="1080"/>
              <a:buNone/>
              <a:defRPr>
                <a:solidFill>
                  <a:srgbClr val="7F7F7F"/>
                </a:solidFill>
              </a:defRPr>
            </a:lvl1pPr>
            <a:lvl2pPr lvl="1" algn="ctr">
              <a:spcBef>
                <a:spcPts val="750"/>
              </a:spcBef>
              <a:spcAft>
                <a:spcPts val="0"/>
              </a:spcAft>
              <a:buSzPts val="960"/>
              <a:buNone/>
              <a:defRPr>
                <a:solidFill>
                  <a:srgbClr val="888888"/>
                </a:solidFill>
              </a:defRPr>
            </a:lvl2pPr>
            <a:lvl3pPr lvl="2" algn="ctr">
              <a:spcBef>
                <a:spcPts val="750"/>
              </a:spcBef>
              <a:spcAft>
                <a:spcPts val="0"/>
              </a:spcAft>
              <a:buSzPts val="840"/>
              <a:buNone/>
              <a:defRPr>
                <a:solidFill>
                  <a:srgbClr val="888888"/>
                </a:solidFill>
              </a:defRPr>
            </a:lvl3pPr>
            <a:lvl4pPr lvl="3" algn="ctr">
              <a:spcBef>
                <a:spcPts val="750"/>
              </a:spcBef>
              <a:spcAft>
                <a:spcPts val="0"/>
              </a:spcAft>
              <a:buSzPts val="720"/>
              <a:buNone/>
              <a:defRPr>
                <a:solidFill>
                  <a:srgbClr val="888888"/>
                </a:solidFill>
              </a:defRPr>
            </a:lvl4pPr>
            <a:lvl5pPr lvl="4" algn="ctr">
              <a:spcBef>
                <a:spcPts val="750"/>
              </a:spcBef>
              <a:spcAft>
                <a:spcPts val="0"/>
              </a:spcAft>
              <a:buSzPts val="720"/>
              <a:buNone/>
              <a:defRPr>
                <a:solidFill>
                  <a:srgbClr val="888888"/>
                </a:solidFill>
              </a:defRPr>
            </a:lvl5pPr>
            <a:lvl6pPr lvl="5" algn="ctr">
              <a:spcBef>
                <a:spcPts val="750"/>
              </a:spcBef>
              <a:spcAft>
                <a:spcPts val="0"/>
              </a:spcAft>
              <a:buSzPts val="720"/>
              <a:buNone/>
              <a:defRPr>
                <a:solidFill>
                  <a:srgbClr val="888888"/>
                </a:solidFill>
              </a:defRPr>
            </a:lvl6pPr>
            <a:lvl7pPr lvl="6" algn="ctr">
              <a:spcBef>
                <a:spcPts val="750"/>
              </a:spcBef>
              <a:spcAft>
                <a:spcPts val="0"/>
              </a:spcAft>
              <a:buSzPts val="720"/>
              <a:buNone/>
              <a:defRPr>
                <a:solidFill>
                  <a:srgbClr val="888888"/>
                </a:solidFill>
              </a:defRPr>
            </a:lvl7pPr>
            <a:lvl8pPr lvl="7" algn="ctr">
              <a:spcBef>
                <a:spcPts val="750"/>
              </a:spcBef>
              <a:spcAft>
                <a:spcPts val="0"/>
              </a:spcAft>
              <a:buSzPts val="720"/>
              <a:buNone/>
              <a:defRPr>
                <a:solidFill>
                  <a:srgbClr val="888888"/>
                </a:solidFill>
              </a:defRPr>
            </a:lvl8pPr>
            <a:lvl9pPr lvl="8" algn="ctr">
              <a:spcBef>
                <a:spcPts val="750"/>
              </a:spcBef>
              <a:spcAft>
                <a:spcPts val="0"/>
              </a:spcAft>
              <a:buSzPts val="720"/>
              <a:buNone/>
              <a:defRPr>
                <a:solidFill>
                  <a:srgbClr val="888888"/>
                </a:solidFill>
              </a:defRPr>
            </a:lvl9pPr>
          </a:lstStyle>
          <a:p/>
        </p:txBody>
      </p:sp>
      <p:sp>
        <p:nvSpPr>
          <p:cNvPr id="47" name="Google Shape;47;p18"/>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50" name="Shape 50"/>
        <p:cNvGrpSpPr/>
        <p:nvPr/>
      </p:nvGrpSpPr>
      <p:grpSpPr>
        <a:xfrm>
          <a:off x="0" y="0"/>
          <a:ext cx="0" cy="0"/>
          <a:chOff x="0" y="0"/>
          <a:chExt cx="0" cy="0"/>
        </a:xfrm>
      </p:grpSpPr>
      <p:sp>
        <p:nvSpPr>
          <p:cNvPr id="51" name="Google Shape;51;p19"/>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 type="body"/>
          </p:nvPr>
        </p:nvSpPr>
        <p:spPr>
          <a:xfrm>
            <a:off x="508001" y="1620442"/>
            <a:ext cx="6447501" cy="2910580"/>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53" name="Google Shape;53;p19"/>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9"/>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9"/>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56" name="Shape 56"/>
        <p:cNvGrpSpPr/>
        <p:nvPr/>
      </p:nvGrpSpPr>
      <p:grpSpPr>
        <a:xfrm>
          <a:off x="0" y="0"/>
          <a:ext cx="0" cy="0"/>
          <a:chOff x="0" y="0"/>
          <a:chExt cx="0" cy="0"/>
        </a:xfrm>
      </p:grpSpPr>
      <p:sp>
        <p:nvSpPr>
          <p:cNvPr id="57" name="Google Shape;57;p20"/>
          <p:cNvSpPr txBox="1"/>
          <p:nvPr>
            <p:ph type="title"/>
          </p:nvPr>
        </p:nvSpPr>
        <p:spPr>
          <a:xfrm>
            <a:off x="508001" y="2025651"/>
            <a:ext cx="6447501" cy="136993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000"/>
              <a:buFont typeface="Trebuchet MS"/>
              <a:buNone/>
              <a:defRPr b="0" sz="3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0"/>
          <p:cNvSpPr txBox="1"/>
          <p:nvPr>
            <p:ph idx="1" type="body"/>
          </p:nvPr>
        </p:nvSpPr>
        <p:spPr>
          <a:xfrm>
            <a:off x="508001" y="3395586"/>
            <a:ext cx="6447501" cy="645300"/>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200"/>
              <a:buNone/>
              <a:defRPr sz="150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59" name="Google Shape;59;p20"/>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0"/>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2" name="Shape 62"/>
        <p:cNvGrpSpPr/>
        <p:nvPr/>
      </p:nvGrpSpPr>
      <p:grpSpPr>
        <a:xfrm>
          <a:off x="0" y="0"/>
          <a:ext cx="0" cy="0"/>
          <a:chOff x="0" y="0"/>
          <a:chExt cx="0" cy="0"/>
        </a:xfrm>
      </p:grpSpPr>
      <p:sp>
        <p:nvSpPr>
          <p:cNvPr id="63" name="Google Shape;63;p21"/>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 type="body"/>
          </p:nvPr>
        </p:nvSpPr>
        <p:spPr>
          <a:xfrm>
            <a:off x="508001" y="1620442"/>
            <a:ext cx="3138026" cy="2910579"/>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65" name="Google Shape;65;p21"/>
          <p:cNvSpPr txBox="1"/>
          <p:nvPr>
            <p:ph idx="2" type="body"/>
          </p:nvPr>
        </p:nvSpPr>
        <p:spPr>
          <a:xfrm>
            <a:off x="3817477" y="1620442"/>
            <a:ext cx="3138026" cy="2910580"/>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66" name="Google Shape;66;p21"/>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1"/>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69" name="Shape 69"/>
        <p:cNvGrpSpPr/>
        <p:nvPr/>
      </p:nvGrpSpPr>
      <p:grpSpPr>
        <a:xfrm>
          <a:off x="0" y="0"/>
          <a:ext cx="0" cy="0"/>
          <a:chOff x="0" y="0"/>
          <a:chExt cx="0" cy="0"/>
        </a:xfrm>
      </p:grpSpPr>
      <p:sp>
        <p:nvSpPr>
          <p:cNvPr id="70" name="Google Shape;70;p22"/>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27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 type="body"/>
          </p:nvPr>
        </p:nvSpPr>
        <p:spPr>
          <a:xfrm>
            <a:off x="506809" y="1620737"/>
            <a:ext cx="3139217"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72" name="Google Shape;72;p22"/>
          <p:cNvSpPr txBox="1"/>
          <p:nvPr>
            <p:ph idx="2" type="body"/>
          </p:nvPr>
        </p:nvSpPr>
        <p:spPr>
          <a:xfrm>
            <a:off x="506809" y="2052934"/>
            <a:ext cx="3139217" cy="247808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73" name="Google Shape;73;p22"/>
          <p:cNvSpPr txBox="1"/>
          <p:nvPr>
            <p:ph idx="3" type="body"/>
          </p:nvPr>
        </p:nvSpPr>
        <p:spPr>
          <a:xfrm>
            <a:off x="3816287" y="1620737"/>
            <a:ext cx="3139214" cy="432197"/>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74" name="Google Shape;74;p22"/>
          <p:cNvSpPr txBox="1"/>
          <p:nvPr>
            <p:ph idx="4" type="body"/>
          </p:nvPr>
        </p:nvSpPr>
        <p:spPr>
          <a:xfrm>
            <a:off x="3816288" y="2052934"/>
            <a:ext cx="3139213" cy="247808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75" name="Google Shape;75;p22"/>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78" name="Shape 78"/>
        <p:cNvGrpSpPr/>
        <p:nvPr/>
      </p:nvGrpSpPr>
      <p:grpSpPr>
        <a:xfrm>
          <a:off x="0" y="0"/>
          <a:ext cx="0" cy="0"/>
          <a:chOff x="0" y="0"/>
          <a:chExt cx="0" cy="0"/>
        </a:xfrm>
      </p:grpSpPr>
      <p:sp>
        <p:nvSpPr>
          <p:cNvPr id="79" name="Google Shape;79;p23"/>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3"/>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p:spTree>
      <p:nvGrpSpPr>
        <p:cNvPr id="83" name="Shape 83"/>
        <p:cNvGrpSpPr/>
        <p:nvPr/>
      </p:nvGrpSpPr>
      <p:grpSpPr>
        <a:xfrm>
          <a:off x="0" y="0"/>
          <a:ext cx="0" cy="0"/>
          <a:chOff x="0" y="0"/>
          <a:chExt cx="0" cy="0"/>
        </a:xfrm>
      </p:grpSpPr>
      <p:sp>
        <p:nvSpPr>
          <p:cNvPr id="84" name="Google Shape;84;p24"/>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4"/>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87" name="Shape 87"/>
        <p:cNvGrpSpPr/>
        <p:nvPr/>
      </p:nvGrpSpPr>
      <p:grpSpPr>
        <a:xfrm>
          <a:off x="0" y="0"/>
          <a:ext cx="0" cy="0"/>
          <a:chOff x="0" y="0"/>
          <a:chExt cx="0" cy="0"/>
        </a:xfrm>
      </p:grpSpPr>
      <p:sp>
        <p:nvSpPr>
          <p:cNvPr id="88" name="Google Shape;88;p25"/>
          <p:cNvSpPr txBox="1"/>
          <p:nvPr>
            <p:ph type="title"/>
          </p:nvPr>
        </p:nvSpPr>
        <p:spPr>
          <a:xfrm>
            <a:off x="508001" y="1123953"/>
            <a:ext cx="2890896" cy="9588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500"/>
              <a:buFont typeface="Trebuchet MS"/>
              <a:buNone/>
              <a:defRPr sz="1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5"/>
          <p:cNvSpPr txBox="1"/>
          <p:nvPr>
            <p:ph idx="1" type="body"/>
          </p:nvPr>
        </p:nvSpPr>
        <p:spPr>
          <a:xfrm>
            <a:off x="3570346" y="386193"/>
            <a:ext cx="3385156" cy="4144828"/>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90" name="Google Shape;90;p25"/>
          <p:cNvSpPr txBox="1"/>
          <p:nvPr>
            <p:ph idx="2" type="body"/>
          </p:nvPr>
        </p:nvSpPr>
        <p:spPr>
          <a:xfrm>
            <a:off x="508001" y="2082802"/>
            <a:ext cx="2890896" cy="1938337"/>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840"/>
              <a:buNone/>
              <a:defRPr sz="1050"/>
            </a:lvl1pPr>
            <a:lvl2pPr indent="-228600" lvl="1" marL="914400" algn="l">
              <a:spcBef>
                <a:spcPts val="750"/>
              </a:spcBef>
              <a:spcAft>
                <a:spcPts val="0"/>
              </a:spcAft>
              <a:buSzPts val="840"/>
              <a:buNone/>
              <a:defRPr sz="1050"/>
            </a:lvl2pPr>
            <a:lvl3pPr indent="-228600" lvl="2" marL="1371600" algn="l">
              <a:spcBef>
                <a:spcPts val="750"/>
              </a:spcBef>
              <a:spcAft>
                <a:spcPts val="0"/>
              </a:spcAft>
              <a:buSzPts val="720"/>
              <a:buNone/>
              <a:defRPr sz="900"/>
            </a:lvl3pPr>
            <a:lvl4pPr indent="-228600" lvl="3" marL="1828800" algn="l">
              <a:spcBef>
                <a:spcPts val="750"/>
              </a:spcBef>
              <a:spcAft>
                <a:spcPts val="0"/>
              </a:spcAft>
              <a:buSzPts val="600"/>
              <a:buNone/>
              <a:defRPr sz="750"/>
            </a:lvl4pPr>
            <a:lvl5pPr indent="-228600" lvl="4" marL="2286000" algn="l">
              <a:spcBef>
                <a:spcPts val="750"/>
              </a:spcBef>
              <a:spcAft>
                <a:spcPts val="0"/>
              </a:spcAft>
              <a:buSzPts val="600"/>
              <a:buNone/>
              <a:defRPr sz="750"/>
            </a:lvl5pPr>
            <a:lvl6pPr indent="-228600" lvl="5" marL="2743200" algn="l">
              <a:spcBef>
                <a:spcPts val="750"/>
              </a:spcBef>
              <a:spcAft>
                <a:spcPts val="0"/>
              </a:spcAft>
              <a:buSzPts val="600"/>
              <a:buNone/>
              <a:defRPr sz="750"/>
            </a:lvl6pPr>
            <a:lvl7pPr indent="-228600" lvl="6" marL="3200400" algn="l">
              <a:spcBef>
                <a:spcPts val="750"/>
              </a:spcBef>
              <a:spcAft>
                <a:spcPts val="0"/>
              </a:spcAft>
              <a:buSzPts val="600"/>
              <a:buNone/>
              <a:defRPr sz="750"/>
            </a:lvl7pPr>
            <a:lvl8pPr indent="-228600" lvl="7" marL="3657600" algn="l">
              <a:spcBef>
                <a:spcPts val="750"/>
              </a:spcBef>
              <a:spcAft>
                <a:spcPts val="0"/>
              </a:spcAft>
              <a:buSzPts val="600"/>
              <a:buNone/>
              <a:defRPr sz="750"/>
            </a:lvl8pPr>
            <a:lvl9pPr indent="-228600" lvl="8" marL="4114800" algn="l">
              <a:spcBef>
                <a:spcPts val="750"/>
              </a:spcBef>
              <a:spcAft>
                <a:spcPts val="0"/>
              </a:spcAft>
              <a:buSzPts val="600"/>
              <a:buNone/>
              <a:defRPr sz="750"/>
            </a:lvl9pPr>
          </a:lstStyle>
          <a:p/>
        </p:txBody>
      </p:sp>
      <p:sp>
        <p:nvSpPr>
          <p:cNvPr id="91" name="Google Shape;91;p25"/>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5"/>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94" name="Shape 94"/>
        <p:cNvGrpSpPr/>
        <p:nvPr/>
      </p:nvGrpSpPr>
      <p:grpSpPr>
        <a:xfrm>
          <a:off x="0" y="0"/>
          <a:ext cx="0" cy="0"/>
          <a:chOff x="0" y="0"/>
          <a:chExt cx="0" cy="0"/>
        </a:xfrm>
      </p:grpSpPr>
      <p:sp>
        <p:nvSpPr>
          <p:cNvPr id="95" name="Google Shape;95;p26"/>
          <p:cNvSpPr txBox="1"/>
          <p:nvPr>
            <p:ph type="title"/>
          </p:nvPr>
        </p:nvSpPr>
        <p:spPr>
          <a:xfrm>
            <a:off x="508001" y="3600450"/>
            <a:ext cx="64475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Font typeface="Trebuchet MS"/>
              <a:buNone/>
              <a:defRPr b="0"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6"/>
          <p:cNvSpPr/>
          <p:nvPr>
            <p:ph idx="2" type="pic"/>
          </p:nvPr>
        </p:nvSpPr>
        <p:spPr>
          <a:xfrm>
            <a:off x="508001" y="457200"/>
            <a:ext cx="6447501" cy="2884289"/>
          </a:xfrm>
          <a:prstGeom prst="rect">
            <a:avLst/>
          </a:prstGeom>
          <a:noFill/>
          <a:ln>
            <a:noFill/>
          </a:ln>
        </p:spPr>
      </p:sp>
      <p:sp>
        <p:nvSpPr>
          <p:cNvPr id="97" name="Google Shape;97;p26"/>
          <p:cNvSpPr txBox="1"/>
          <p:nvPr>
            <p:ph idx="1" type="body"/>
          </p:nvPr>
        </p:nvSpPr>
        <p:spPr>
          <a:xfrm>
            <a:off x="508001" y="4025504"/>
            <a:ext cx="6447500" cy="505518"/>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720"/>
              <a:buNone/>
              <a:defRPr sz="900"/>
            </a:lvl1pPr>
            <a:lvl2pPr indent="-228600" lvl="1" marL="914400" algn="l">
              <a:spcBef>
                <a:spcPts val="750"/>
              </a:spcBef>
              <a:spcAft>
                <a:spcPts val="0"/>
              </a:spcAft>
              <a:buSzPts val="720"/>
              <a:buNone/>
              <a:defRPr sz="900"/>
            </a:lvl2pPr>
            <a:lvl3pPr indent="-228600" lvl="2" marL="1371600" algn="l">
              <a:spcBef>
                <a:spcPts val="750"/>
              </a:spcBef>
              <a:spcAft>
                <a:spcPts val="0"/>
              </a:spcAft>
              <a:buSzPts val="600"/>
              <a:buNone/>
              <a:defRPr sz="750"/>
            </a:lvl3pPr>
            <a:lvl4pPr indent="-228600" lvl="3" marL="1828800" algn="l">
              <a:spcBef>
                <a:spcPts val="750"/>
              </a:spcBef>
              <a:spcAft>
                <a:spcPts val="0"/>
              </a:spcAft>
              <a:buSzPts val="540"/>
              <a:buNone/>
              <a:defRPr sz="675"/>
            </a:lvl4pPr>
            <a:lvl5pPr indent="-228600" lvl="4" marL="2286000" algn="l">
              <a:spcBef>
                <a:spcPts val="750"/>
              </a:spcBef>
              <a:spcAft>
                <a:spcPts val="0"/>
              </a:spcAft>
              <a:buSzPts val="540"/>
              <a:buNone/>
              <a:defRPr sz="675"/>
            </a:lvl5pPr>
            <a:lvl6pPr indent="-228600" lvl="5" marL="2743200" algn="l">
              <a:spcBef>
                <a:spcPts val="750"/>
              </a:spcBef>
              <a:spcAft>
                <a:spcPts val="0"/>
              </a:spcAft>
              <a:buSzPts val="540"/>
              <a:buNone/>
              <a:defRPr sz="675"/>
            </a:lvl6pPr>
            <a:lvl7pPr indent="-228600" lvl="6" marL="3200400" algn="l">
              <a:spcBef>
                <a:spcPts val="750"/>
              </a:spcBef>
              <a:spcAft>
                <a:spcPts val="0"/>
              </a:spcAft>
              <a:buSzPts val="540"/>
              <a:buNone/>
              <a:defRPr sz="675"/>
            </a:lvl7pPr>
            <a:lvl8pPr indent="-228600" lvl="7" marL="3657600" algn="l">
              <a:spcBef>
                <a:spcPts val="750"/>
              </a:spcBef>
              <a:spcAft>
                <a:spcPts val="0"/>
              </a:spcAft>
              <a:buSzPts val="540"/>
              <a:buNone/>
              <a:defRPr sz="675"/>
            </a:lvl8pPr>
            <a:lvl9pPr indent="-228600" lvl="8" marL="4114800" algn="l">
              <a:spcBef>
                <a:spcPts val="750"/>
              </a:spcBef>
              <a:spcAft>
                <a:spcPts val="0"/>
              </a:spcAft>
              <a:buSzPts val="540"/>
              <a:buNone/>
              <a:defRPr sz="675"/>
            </a:lvl9pPr>
          </a:lstStyle>
          <a:p/>
        </p:txBody>
      </p:sp>
      <p:sp>
        <p:nvSpPr>
          <p:cNvPr id="98" name="Google Shape;98;p26"/>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6"/>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00" name="Google Shape;100;p26"/>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légende">
  <p:cSld name="Titre et légende">
    <p:spTree>
      <p:nvGrpSpPr>
        <p:cNvPr id="101" name="Shape 101"/>
        <p:cNvGrpSpPr/>
        <p:nvPr/>
      </p:nvGrpSpPr>
      <p:grpSpPr>
        <a:xfrm>
          <a:off x="0" y="0"/>
          <a:ext cx="0" cy="0"/>
          <a:chOff x="0" y="0"/>
          <a:chExt cx="0" cy="0"/>
        </a:xfrm>
      </p:grpSpPr>
      <p:sp>
        <p:nvSpPr>
          <p:cNvPr id="102" name="Google Shape;102;p27"/>
          <p:cNvSpPr txBox="1"/>
          <p:nvPr>
            <p:ph type="title"/>
          </p:nvPr>
        </p:nvSpPr>
        <p:spPr>
          <a:xfrm>
            <a:off x="508001" y="457200"/>
            <a:ext cx="6447501" cy="2552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7"/>
          <p:cNvSpPr txBox="1"/>
          <p:nvPr>
            <p:ph idx="1" type="body"/>
          </p:nvPr>
        </p:nvSpPr>
        <p:spPr>
          <a:xfrm>
            <a:off x="508001" y="3352800"/>
            <a:ext cx="6447501" cy="1178222"/>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04" name="Google Shape;104;p27"/>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7"/>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7"/>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107" name="Shape 107"/>
        <p:cNvGrpSpPr/>
        <p:nvPr/>
      </p:nvGrpSpPr>
      <p:grpSpPr>
        <a:xfrm>
          <a:off x="0" y="0"/>
          <a:ext cx="0" cy="0"/>
          <a:chOff x="0" y="0"/>
          <a:chExt cx="0" cy="0"/>
        </a:xfrm>
      </p:grpSpPr>
      <p:sp>
        <p:nvSpPr>
          <p:cNvPr id="108" name="Google Shape;108;p28"/>
          <p:cNvSpPr txBox="1"/>
          <p:nvPr>
            <p:ph type="title"/>
          </p:nvPr>
        </p:nvSpPr>
        <p:spPr>
          <a:xfrm>
            <a:off x="698500" y="457200"/>
            <a:ext cx="6070601"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8"/>
          <p:cNvSpPr txBox="1"/>
          <p:nvPr>
            <p:ph idx="1" type="body"/>
          </p:nvPr>
        </p:nvSpPr>
        <p:spPr>
          <a:xfrm>
            <a:off x="1024604" y="2724150"/>
            <a:ext cx="5418393" cy="285750"/>
          </a:xfrm>
          <a:prstGeom prst="rect">
            <a:avLst/>
          </a:prstGeom>
          <a:noFill/>
          <a:ln>
            <a:noFill/>
          </a:ln>
        </p:spPr>
        <p:txBody>
          <a:bodyPr anchorCtr="0" anchor="ctr" bIns="45700" lIns="91425" spcFirstLastPara="1" rIns="91425" wrap="square" tIns="45700">
            <a:noAutofit/>
          </a:bodyPr>
          <a:lstStyle>
            <a:lvl1pPr indent="-228600" lvl="0" marL="457200" algn="l">
              <a:spcBef>
                <a:spcPts val="750"/>
              </a:spcBef>
              <a:spcAft>
                <a:spcPts val="0"/>
              </a:spcAft>
              <a:buSzPts val="960"/>
              <a:buFont typeface="Trebuchet MS"/>
              <a:buNone/>
              <a:defRPr sz="1200">
                <a:solidFill>
                  <a:srgbClr val="7F7F7F"/>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10" name="Google Shape;110;p28"/>
          <p:cNvSpPr txBox="1"/>
          <p:nvPr>
            <p:ph idx="2" type="body"/>
          </p:nvPr>
        </p:nvSpPr>
        <p:spPr>
          <a:xfrm>
            <a:off x="508001" y="3352800"/>
            <a:ext cx="6447501" cy="1178222"/>
          </a:xfrm>
          <a:prstGeom prst="rect">
            <a:avLst/>
          </a:prstGeom>
          <a:noFill/>
          <a:ln>
            <a:noFill/>
          </a:ln>
        </p:spPr>
        <p:txBody>
          <a:bodyPr anchorCtr="0" anchor="ctr"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11" name="Google Shape;111;p28"/>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8"/>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8"/>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14" name="Google Shape;114;p28"/>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fr-FR" sz="6000">
                <a:solidFill>
                  <a:srgbClr val="9EDFF5"/>
                </a:solidFill>
                <a:latin typeface="Arial"/>
                <a:ea typeface="Arial"/>
                <a:cs typeface="Arial"/>
                <a:sym typeface="Arial"/>
              </a:rPr>
              <a:t>“</a:t>
            </a:r>
            <a:endParaRPr/>
          </a:p>
        </p:txBody>
      </p:sp>
      <p:sp>
        <p:nvSpPr>
          <p:cNvPr id="115" name="Google Shape;115;p28"/>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fr-FR" sz="6000">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p:cSld name="Carte nom">
    <p:spTree>
      <p:nvGrpSpPr>
        <p:cNvPr id="116" name="Shape 116"/>
        <p:cNvGrpSpPr/>
        <p:nvPr/>
      </p:nvGrpSpPr>
      <p:grpSpPr>
        <a:xfrm>
          <a:off x="0" y="0"/>
          <a:ext cx="0" cy="0"/>
          <a:chOff x="0" y="0"/>
          <a:chExt cx="0" cy="0"/>
        </a:xfrm>
      </p:grpSpPr>
      <p:sp>
        <p:nvSpPr>
          <p:cNvPr id="117" name="Google Shape;117;p29"/>
          <p:cNvSpPr txBox="1"/>
          <p:nvPr>
            <p:ph type="title"/>
          </p:nvPr>
        </p:nvSpPr>
        <p:spPr>
          <a:xfrm>
            <a:off x="508001" y="1448991"/>
            <a:ext cx="6447501" cy="194659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9"/>
          <p:cNvSpPr txBox="1"/>
          <p:nvPr>
            <p:ph idx="1"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19" name="Google Shape;119;p29"/>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9"/>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9"/>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citation">
  <p:cSld name="Carte nom citation">
    <p:spTree>
      <p:nvGrpSpPr>
        <p:cNvPr id="122" name="Shape 122"/>
        <p:cNvGrpSpPr/>
        <p:nvPr/>
      </p:nvGrpSpPr>
      <p:grpSpPr>
        <a:xfrm>
          <a:off x="0" y="0"/>
          <a:ext cx="0" cy="0"/>
          <a:chOff x="0" y="0"/>
          <a:chExt cx="0" cy="0"/>
        </a:xfrm>
      </p:grpSpPr>
      <p:sp>
        <p:nvSpPr>
          <p:cNvPr id="123" name="Google Shape;123;p30"/>
          <p:cNvSpPr txBox="1"/>
          <p:nvPr>
            <p:ph type="title"/>
          </p:nvPr>
        </p:nvSpPr>
        <p:spPr>
          <a:xfrm>
            <a:off x="698500" y="457200"/>
            <a:ext cx="6070601"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0"/>
          <p:cNvSpPr txBox="1"/>
          <p:nvPr>
            <p:ph idx="1" type="body"/>
          </p:nvPr>
        </p:nvSpPr>
        <p:spPr>
          <a:xfrm>
            <a:off x="507999" y="3009900"/>
            <a:ext cx="6447502" cy="385686"/>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Font typeface="Trebuchet MS"/>
              <a:buNone/>
              <a:defRPr sz="1800">
                <a:solidFill>
                  <a:srgbClr val="3F3F3F"/>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25" name="Google Shape;125;p30"/>
          <p:cNvSpPr txBox="1"/>
          <p:nvPr>
            <p:ph idx="2"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26" name="Google Shape;126;p30"/>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0"/>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0"/>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29" name="Google Shape;129;p30"/>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fr-FR" sz="6000">
                <a:solidFill>
                  <a:srgbClr val="9EDFF5"/>
                </a:solidFill>
                <a:latin typeface="Arial"/>
                <a:ea typeface="Arial"/>
                <a:cs typeface="Arial"/>
                <a:sym typeface="Arial"/>
              </a:rPr>
              <a:t>“</a:t>
            </a:r>
            <a:endParaRPr/>
          </a:p>
        </p:txBody>
      </p:sp>
      <p:sp>
        <p:nvSpPr>
          <p:cNvPr id="130" name="Google Shape;130;p30"/>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fr-FR" sz="6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rai ou faux">
  <p:cSld name="Vrai ou faux">
    <p:spTree>
      <p:nvGrpSpPr>
        <p:cNvPr id="131" name="Shape 131"/>
        <p:cNvGrpSpPr/>
        <p:nvPr/>
      </p:nvGrpSpPr>
      <p:grpSpPr>
        <a:xfrm>
          <a:off x="0" y="0"/>
          <a:ext cx="0" cy="0"/>
          <a:chOff x="0" y="0"/>
          <a:chExt cx="0" cy="0"/>
        </a:xfrm>
      </p:grpSpPr>
      <p:sp>
        <p:nvSpPr>
          <p:cNvPr id="132" name="Google Shape;132;p31"/>
          <p:cNvSpPr txBox="1"/>
          <p:nvPr>
            <p:ph type="title"/>
          </p:nvPr>
        </p:nvSpPr>
        <p:spPr>
          <a:xfrm>
            <a:off x="514350" y="457200"/>
            <a:ext cx="6441152" cy="2266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1"/>
          <p:cNvSpPr txBox="1"/>
          <p:nvPr>
            <p:ph idx="1" type="body"/>
          </p:nvPr>
        </p:nvSpPr>
        <p:spPr>
          <a:xfrm>
            <a:off x="507999" y="3009900"/>
            <a:ext cx="6447502" cy="385686"/>
          </a:xfrm>
          <a:prstGeom prst="rect">
            <a:avLst/>
          </a:prstGeom>
          <a:noFill/>
          <a:ln>
            <a:noFill/>
          </a:ln>
        </p:spPr>
        <p:txBody>
          <a:bodyPr anchorCtr="0" anchor="b" bIns="45700" lIns="91425" spcFirstLastPara="1" rIns="91425" wrap="square" tIns="45700">
            <a:noAutofit/>
          </a:bodyPr>
          <a:lstStyle>
            <a:lvl1pPr indent="-228600" lvl="0" marL="457200" algn="l">
              <a:spcBef>
                <a:spcPts val="750"/>
              </a:spcBef>
              <a:spcAft>
                <a:spcPts val="0"/>
              </a:spcAft>
              <a:buSzPts val="1440"/>
              <a:buFont typeface="Trebuchet MS"/>
              <a:buNone/>
              <a:defRPr sz="1800">
                <a:solidFill>
                  <a:schemeClr val="accent1"/>
                </a:solidFill>
              </a:defRPr>
            </a:lvl1pPr>
            <a:lvl2pPr indent="-228600" lvl="1" marL="914400" algn="l">
              <a:spcBef>
                <a:spcPts val="750"/>
              </a:spcBef>
              <a:spcAft>
                <a:spcPts val="0"/>
              </a:spcAft>
              <a:buSzPts val="960"/>
              <a:buFont typeface="Trebuchet MS"/>
              <a:buNone/>
              <a:defRPr/>
            </a:lvl2pPr>
            <a:lvl3pPr indent="-228600" lvl="2" marL="1371600" algn="l">
              <a:spcBef>
                <a:spcPts val="750"/>
              </a:spcBef>
              <a:spcAft>
                <a:spcPts val="0"/>
              </a:spcAft>
              <a:buSzPts val="840"/>
              <a:buFont typeface="Trebuchet MS"/>
              <a:buNone/>
              <a:defRPr/>
            </a:lvl3pPr>
            <a:lvl4pPr indent="-228600" lvl="3" marL="1828800" algn="l">
              <a:spcBef>
                <a:spcPts val="750"/>
              </a:spcBef>
              <a:spcAft>
                <a:spcPts val="0"/>
              </a:spcAft>
              <a:buSzPts val="720"/>
              <a:buFont typeface="Trebuchet MS"/>
              <a:buNone/>
              <a:defRPr/>
            </a:lvl4pPr>
            <a:lvl5pPr indent="-228600" lvl="4" marL="2286000" algn="l">
              <a:spcBef>
                <a:spcPts val="750"/>
              </a:spcBef>
              <a:spcAft>
                <a:spcPts val="0"/>
              </a:spcAft>
              <a:buSzPts val="720"/>
              <a:buFont typeface="Trebuchet MS"/>
              <a:buNone/>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34" name="Google Shape;134;p31"/>
          <p:cNvSpPr txBox="1"/>
          <p:nvPr>
            <p:ph idx="2" type="body"/>
          </p:nvPr>
        </p:nvSpPr>
        <p:spPr>
          <a:xfrm>
            <a:off x="508001" y="3395586"/>
            <a:ext cx="6447501" cy="1135436"/>
          </a:xfrm>
          <a:prstGeom prst="rect">
            <a:avLst/>
          </a:prstGeom>
          <a:noFill/>
          <a:ln>
            <a:noFill/>
          </a:ln>
        </p:spPr>
        <p:txBody>
          <a:bodyPr anchorCtr="0" anchor="t" bIns="45700" lIns="91425" spcFirstLastPara="1" rIns="91425" wrap="square" tIns="45700">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35" name="Google Shape;135;p31"/>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1"/>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1"/>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38" name="Shape 138"/>
        <p:cNvGrpSpPr/>
        <p:nvPr/>
      </p:nvGrpSpPr>
      <p:grpSpPr>
        <a:xfrm>
          <a:off x="0" y="0"/>
          <a:ext cx="0" cy="0"/>
          <a:chOff x="0" y="0"/>
          <a:chExt cx="0" cy="0"/>
        </a:xfrm>
      </p:grpSpPr>
      <p:sp>
        <p:nvSpPr>
          <p:cNvPr id="139" name="Google Shape;139;p32"/>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2"/>
          <p:cNvSpPr txBox="1"/>
          <p:nvPr>
            <p:ph idx="1" type="body"/>
          </p:nvPr>
        </p:nvSpPr>
        <p:spPr>
          <a:xfrm rot="5400000">
            <a:off x="2276462" y="-148019"/>
            <a:ext cx="2910580" cy="6447501"/>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41" name="Google Shape;141;p32"/>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2"/>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2"/>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44" name="Shape 144"/>
        <p:cNvGrpSpPr/>
        <p:nvPr/>
      </p:nvGrpSpPr>
      <p:grpSpPr>
        <a:xfrm>
          <a:off x="0" y="0"/>
          <a:ext cx="0" cy="0"/>
          <a:chOff x="0" y="0"/>
          <a:chExt cx="0" cy="0"/>
        </a:xfrm>
      </p:grpSpPr>
      <p:sp>
        <p:nvSpPr>
          <p:cNvPr id="145" name="Google Shape;145;p33"/>
          <p:cNvSpPr txBox="1"/>
          <p:nvPr>
            <p:ph type="title"/>
          </p:nvPr>
        </p:nvSpPr>
        <p:spPr>
          <a:xfrm rot="5400000">
            <a:off x="4495739" y="1937216"/>
            <a:ext cx="3938588" cy="97855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3"/>
          <p:cNvSpPr txBox="1"/>
          <p:nvPr>
            <p:ph idx="1" type="body"/>
          </p:nvPr>
        </p:nvSpPr>
        <p:spPr>
          <a:xfrm rot="5400000">
            <a:off x="1186264" y="-221062"/>
            <a:ext cx="3938588" cy="5295113"/>
          </a:xfrm>
          <a:prstGeom prst="rect">
            <a:avLst/>
          </a:prstGeom>
          <a:noFill/>
          <a:ln>
            <a:noFill/>
          </a:ln>
        </p:spPr>
        <p:txBody>
          <a:bodyPr anchorCtr="0" anchor="t" bIns="45700" lIns="91425" spcFirstLastPara="1" rIns="91425" wrap="square" tIns="45700">
            <a:normAutofit/>
          </a:bodyPr>
          <a:lstStyle>
            <a:lvl1pPr indent="-320040" lvl="0" marL="457200" algn="l">
              <a:spcBef>
                <a:spcPts val="750"/>
              </a:spcBef>
              <a:spcAft>
                <a:spcPts val="0"/>
              </a:spcAft>
              <a:buSzPts val="1440"/>
              <a:buChar char="►"/>
              <a:defRPr/>
            </a:lvl1pPr>
            <a:lvl2pPr indent="-320040" lvl="1" marL="914400" algn="l">
              <a:spcBef>
                <a:spcPts val="750"/>
              </a:spcBef>
              <a:spcAft>
                <a:spcPts val="0"/>
              </a:spcAft>
              <a:buSzPts val="1440"/>
              <a:buChar char="►"/>
              <a:defRPr/>
            </a:lvl2pPr>
            <a:lvl3pPr indent="-320039" lvl="2" marL="1371600" algn="l">
              <a:spcBef>
                <a:spcPts val="750"/>
              </a:spcBef>
              <a:spcAft>
                <a:spcPts val="0"/>
              </a:spcAft>
              <a:buSzPts val="1440"/>
              <a:buChar char="►"/>
              <a:defRPr/>
            </a:lvl3pPr>
            <a:lvl4pPr indent="-320039" lvl="3" marL="1828800" algn="l">
              <a:spcBef>
                <a:spcPts val="750"/>
              </a:spcBef>
              <a:spcAft>
                <a:spcPts val="0"/>
              </a:spcAft>
              <a:buSzPts val="1440"/>
              <a:buChar char="►"/>
              <a:defRPr/>
            </a:lvl4pPr>
            <a:lvl5pPr indent="-320039" lvl="4" marL="2286000" algn="l">
              <a:spcBef>
                <a:spcPts val="750"/>
              </a:spcBef>
              <a:spcAft>
                <a:spcPts val="0"/>
              </a:spcAft>
              <a:buSzPts val="1440"/>
              <a:buChar char="►"/>
              <a:defRPr/>
            </a:lvl5pPr>
            <a:lvl6pPr indent="-320039" lvl="5" marL="2743200" algn="l">
              <a:spcBef>
                <a:spcPts val="750"/>
              </a:spcBef>
              <a:spcAft>
                <a:spcPts val="0"/>
              </a:spcAft>
              <a:buSzPts val="1440"/>
              <a:buChar char="►"/>
              <a:defRPr/>
            </a:lvl6pPr>
            <a:lvl7pPr indent="-320039" lvl="6" marL="3200400" algn="l">
              <a:spcBef>
                <a:spcPts val="750"/>
              </a:spcBef>
              <a:spcAft>
                <a:spcPts val="0"/>
              </a:spcAft>
              <a:buSzPts val="1440"/>
              <a:buChar char="►"/>
              <a:defRPr/>
            </a:lvl7pPr>
            <a:lvl8pPr indent="-320040" lvl="7" marL="3657600" algn="l">
              <a:spcBef>
                <a:spcPts val="750"/>
              </a:spcBef>
              <a:spcAft>
                <a:spcPts val="0"/>
              </a:spcAft>
              <a:buSzPts val="1440"/>
              <a:buChar char="►"/>
              <a:defRPr/>
            </a:lvl8pPr>
            <a:lvl9pPr indent="-320040" lvl="8" marL="4114800" algn="l">
              <a:spcBef>
                <a:spcPts val="750"/>
              </a:spcBef>
              <a:spcAft>
                <a:spcPts val="0"/>
              </a:spcAft>
              <a:buSzPts val="1440"/>
              <a:buChar char="►"/>
              <a:defRPr/>
            </a:lvl9pPr>
          </a:lstStyle>
          <a:p/>
        </p:txBody>
      </p:sp>
      <p:sp>
        <p:nvSpPr>
          <p:cNvPr id="147" name="Google Shape;147;p33"/>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3"/>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3"/>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6350"/>
            <a:ext cx="9144000" cy="5149850"/>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508001" y="457200"/>
            <a:ext cx="6447501" cy="9906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508001" y="1620442"/>
            <a:ext cx="6447501" cy="2910580"/>
          </a:xfrm>
          <a:prstGeom prst="rect">
            <a:avLst/>
          </a:prstGeom>
          <a:noFill/>
          <a:ln>
            <a:noFill/>
          </a:ln>
        </p:spPr>
        <p:txBody>
          <a:bodyPr anchorCtr="0" anchor="t" bIns="45700" lIns="91425" spcFirstLastPara="1" rIns="91425" wrap="square" tIns="45700">
            <a:normAutofit/>
          </a:bodyPr>
          <a:lstStyle>
            <a:lvl1pPr indent="-297180" lvl="0" marL="457200" marR="0" rtl="0" algn="l">
              <a:spcBef>
                <a:spcPts val="750"/>
              </a:spcBef>
              <a:spcAft>
                <a:spcPts val="0"/>
              </a:spcAft>
              <a:buClr>
                <a:schemeClr val="accent1"/>
              </a:buClr>
              <a:buSzPts val="1080"/>
              <a:buFont typeface="Noto Sans Symbols"/>
              <a:buChar char="►"/>
              <a:defRPr b="0" i="0" sz="1350" u="none" cap="none" strike="noStrike">
                <a:solidFill>
                  <a:srgbClr val="3F3F3F"/>
                </a:solidFill>
                <a:latin typeface="Trebuchet MS"/>
                <a:ea typeface="Trebuchet MS"/>
                <a:cs typeface="Trebuchet MS"/>
                <a:sym typeface="Trebuchet MS"/>
              </a:defRPr>
            </a:lvl1pPr>
            <a:lvl2pPr indent="-289560" lvl="1" marL="914400" marR="0" rtl="0" algn="l">
              <a:spcBef>
                <a:spcPts val="75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2pPr>
            <a:lvl3pPr indent="-281939" lvl="2" marL="1371600" marR="0" rtl="0" algn="l">
              <a:spcBef>
                <a:spcPts val="750"/>
              </a:spcBef>
              <a:spcAft>
                <a:spcPts val="0"/>
              </a:spcAft>
              <a:buClr>
                <a:schemeClr val="accent1"/>
              </a:buClr>
              <a:buSzPts val="840"/>
              <a:buFont typeface="Noto Sans Symbols"/>
              <a:buChar char="►"/>
              <a:defRPr b="0" i="0" sz="1050" u="none" cap="none" strike="noStrike">
                <a:solidFill>
                  <a:srgbClr val="3F3F3F"/>
                </a:solidFill>
                <a:latin typeface="Trebuchet MS"/>
                <a:ea typeface="Trebuchet MS"/>
                <a:cs typeface="Trebuchet MS"/>
                <a:sym typeface="Trebuchet MS"/>
              </a:defRPr>
            </a:lvl3pPr>
            <a:lvl4pPr indent="-274319" lvl="3" marL="18288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4pPr>
            <a:lvl5pPr indent="-274320" lvl="4" marL="22860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5pPr>
            <a:lvl6pPr indent="-274320" lvl="5" marL="27432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6pPr>
            <a:lvl7pPr indent="-274320" lvl="6" marL="32004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7pPr>
            <a:lvl8pPr indent="-274320" lvl="7" marL="36576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8pPr>
            <a:lvl9pPr indent="-274320" lvl="8" marL="4114800" marR="0" rtl="0" algn="l">
              <a:spcBef>
                <a:spcPts val="750"/>
              </a:spcBef>
              <a:spcAft>
                <a:spcPts val="0"/>
              </a:spcAft>
              <a:buClr>
                <a:schemeClr val="accent1"/>
              </a:buClr>
              <a:buSzPts val="72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5403850" y="4531022"/>
            <a:ext cx="683954" cy="273844"/>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675"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508001" y="4531022"/>
            <a:ext cx="4723209"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6442998" y="4531022"/>
            <a:ext cx="512504"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675"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675"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675"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675"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675"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675"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675"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675"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675"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
          <p:cNvSpPr txBox="1"/>
          <p:nvPr>
            <p:ph idx="1" type="subTitle"/>
          </p:nvPr>
        </p:nvSpPr>
        <p:spPr>
          <a:xfrm>
            <a:off x="494174" y="1553793"/>
            <a:ext cx="6665582" cy="2286000"/>
          </a:xfrm>
          <a:prstGeom prst="rect">
            <a:avLst/>
          </a:prstGeom>
          <a:noFill/>
          <a:ln>
            <a:noFill/>
          </a:ln>
        </p:spPr>
        <p:txBody>
          <a:bodyPr anchorCtr="0" anchor="b" bIns="91425" lIns="91425" spcFirstLastPara="1" rIns="91425" wrap="square" tIns="91425">
            <a:normAutofit/>
          </a:bodyPr>
          <a:lstStyle/>
          <a:p>
            <a:pPr indent="0" lvl="0" marL="0" marR="0" rtl="0" algn="l">
              <a:lnSpc>
                <a:spcPct val="120000"/>
              </a:lnSpc>
              <a:spcBef>
                <a:spcPts val="0"/>
              </a:spcBef>
              <a:spcAft>
                <a:spcPts val="0"/>
              </a:spcAft>
              <a:buClr>
                <a:schemeClr val="dk1"/>
              </a:buClr>
              <a:buSzPts val="2400"/>
              <a:buFont typeface="Arial Rounded"/>
              <a:buNone/>
            </a:pPr>
            <a:r>
              <a:rPr b="1" i="0" lang="fr-FR" sz="2400" u="none" cap="none" strike="noStrike">
                <a:solidFill>
                  <a:schemeClr val="dk1"/>
                </a:solidFill>
                <a:latin typeface="Arial Rounded"/>
                <a:ea typeface="Arial Rounded"/>
                <a:cs typeface="Arial Rounded"/>
                <a:sym typeface="Arial Rounded"/>
              </a:rPr>
              <a:t>Support et mise à disposition de services informatique</a:t>
            </a:r>
            <a:endParaRPr b="1" i="0" sz="2400" u="none" cap="none" strike="noStrike">
              <a:solidFill>
                <a:srgbClr val="000000"/>
              </a:solidFill>
              <a:latin typeface="Arial Rounded"/>
              <a:ea typeface="Arial Rounded"/>
              <a:cs typeface="Arial Rounded"/>
              <a:sym typeface="Arial Rounded"/>
            </a:endParaRPr>
          </a:p>
          <a:p>
            <a:pPr indent="0" lvl="0" marL="0" marR="0" rtl="0" algn="l">
              <a:lnSpc>
                <a:spcPct val="120000"/>
              </a:lnSpc>
              <a:spcBef>
                <a:spcPts val="0"/>
              </a:spcBef>
              <a:spcAft>
                <a:spcPts val="0"/>
              </a:spcAft>
              <a:buClr>
                <a:schemeClr val="accent1"/>
              </a:buClr>
              <a:buSzPts val="1400"/>
              <a:buFont typeface="Trebuchet MS"/>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20000"/>
              </a:lnSpc>
              <a:spcBef>
                <a:spcPts val="0"/>
              </a:spcBef>
              <a:spcAft>
                <a:spcPts val="0"/>
              </a:spcAft>
              <a:buClr>
                <a:schemeClr val="accent1"/>
              </a:buClr>
              <a:buSzPts val="1400"/>
              <a:buFont typeface="Trebuchet MS"/>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20000"/>
              </a:lnSpc>
              <a:spcBef>
                <a:spcPts val="0"/>
              </a:spcBef>
              <a:spcAft>
                <a:spcPts val="0"/>
              </a:spcAft>
              <a:buClr>
                <a:schemeClr val="accent1"/>
              </a:buClr>
              <a:buSzPts val="1400"/>
              <a:buFont typeface="Trebuchet MS"/>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20000"/>
              </a:lnSpc>
              <a:spcBef>
                <a:spcPts val="0"/>
              </a:spcBef>
              <a:spcAft>
                <a:spcPts val="0"/>
              </a:spcAft>
              <a:buClr>
                <a:schemeClr val="accent1"/>
              </a:buClr>
              <a:buSzPts val="1400"/>
              <a:buFont typeface="Trebuchet MS"/>
              <a:buNone/>
            </a:pPr>
            <a:r>
              <a:t/>
            </a:r>
            <a:endParaRPr b="1" i="0" sz="1400" u="none" cap="none" strike="noStrike">
              <a:solidFill>
                <a:srgbClr val="000000"/>
              </a:solidFill>
              <a:latin typeface="Arial Rounded"/>
              <a:ea typeface="Arial Rounded"/>
              <a:cs typeface="Arial Rounded"/>
              <a:sym typeface="Arial Rounded"/>
            </a:endParaRPr>
          </a:p>
        </p:txBody>
      </p:sp>
      <p:sp>
        <p:nvSpPr>
          <p:cNvPr id="156" name="Google Shape;156;p1"/>
          <p:cNvSpPr txBox="1"/>
          <p:nvPr>
            <p:ph type="title"/>
          </p:nvPr>
        </p:nvSpPr>
        <p:spPr>
          <a:xfrm>
            <a:off x="494174" y="463758"/>
            <a:ext cx="4747404" cy="161447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6000"/>
              <a:buFont typeface="Albert Sans"/>
              <a:buNone/>
            </a:pPr>
            <a:r>
              <a:rPr lang="fr-FR" sz="6000" u="none" strike="noStrike">
                <a:solidFill>
                  <a:schemeClr val="dk1"/>
                </a:solidFill>
                <a:latin typeface="Albert Sans"/>
                <a:ea typeface="Albert Sans"/>
                <a:cs typeface="Albert Sans"/>
                <a:sym typeface="Albert Sans"/>
              </a:rPr>
              <a:t>Epreuve E5</a:t>
            </a:r>
            <a:endParaRPr sz="6000" u="none" strike="noStrike">
              <a:solidFill>
                <a:schemeClr val="dk1"/>
              </a:solidFill>
              <a:latin typeface="Arial"/>
              <a:ea typeface="Arial"/>
              <a:cs typeface="Arial"/>
              <a:sym typeface="Arial"/>
            </a:endParaRPr>
          </a:p>
        </p:txBody>
      </p:sp>
      <p:sp>
        <p:nvSpPr>
          <p:cNvPr id="157" name="Google Shape;157;p1"/>
          <p:cNvSpPr txBox="1"/>
          <p:nvPr/>
        </p:nvSpPr>
        <p:spPr>
          <a:xfrm>
            <a:off x="3544981" y="4389399"/>
            <a:ext cx="4575362" cy="39209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1800"/>
              <a:buFont typeface="Arial Rounded"/>
              <a:buNone/>
            </a:pPr>
            <a:r>
              <a:rPr b="1" i="0" lang="fr-FR" sz="1800" u="none" cap="none" strike="noStrike">
                <a:solidFill>
                  <a:schemeClr val="dk1"/>
                </a:solidFill>
                <a:latin typeface="Arial Rounded"/>
                <a:ea typeface="Arial Rounded"/>
                <a:cs typeface="Arial Rounded"/>
                <a:sym typeface="Arial Rounded"/>
              </a:rPr>
              <a:t>Benjamin Boniface</a:t>
            </a:r>
            <a:endParaRPr b="1" i="0" sz="1800" u="none" cap="none" strike="noStrike">
              <a:solidFill>
                <a:srgbClr val="000000"/>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
          <p:cNvSpPr/>
          <p:nvPr/>
        </p:nvSpPr>
        <p:spPr>
          <a:xfrm>
            <a:off x="-428760" y="4257720"/>
            <a:ext cx="3228480" cy="3228480"/>
          </a:xfrm>
          <a:prstGeom prst="rect">
            <a:avLst/>
          </a:prstGeom>
          <a:noFill/>
          <a:ln>
            <a:noFill/>
          </a:ln>
        </p:spPr>
        <p:txBody>
          <a:bodyPr anchorCtr="0" anchor="t" bIns="1614225" lIns="870823075" spcFirstLastPara="1" rIns="870823075" wrap="square" tIns="1614225">
            <a:sp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4" name="Google Shape;164;p2"/>
          <p:cNvSpPr/>
          <p:nvPr/>
        </p:nvSpPr>
        <p:spPr>
          <a:xfrm>
            <a:off x="1676520" y="4448160"/>
            <a:ext cx="2238120" cy="2238120"/>
          </a:xfrm>
          <a:prstGeom prst="rect">
            <a:avLst/>
          </a:prstGeom>
          <a:noFill/>
          <a:ln>
            <a:noFill/>
          </a:ln>
        </p:spPr>
        <p:txBody>
          <a:bodyPr anchorCtr="0" anchor="t" bIns="1119225" lIns="870823075" spcFirstLastPara="1" rIns="870823075" wrap="square" tIns="1119225">
            <a:sp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5" name="Google Shape;165;p2"/>
          <p:cNvSpPr/>
          <p:nvPr/>
        </p:nvSpPr>
        <p:spPr>
          <a:xfrm>
            <a:off x="3228840" y="4857840"/>
            <a:ext cx="1733040" cy="1733040"/>
          </a:xfrm>
          <a:prstGeom prst="rect">
            <a:avLst/>
          </a:prstGeom>
          <a:noFill/>
          <a:ln>
            <a:noFill/>
          </a:ln>
        </p:spPr>
        <p:txBody>
          <a:bodyPr anchorCtr="0" anchor="t" bIns="866500" lIns="870823075" spcFirstLastPara="1" rIns="870823075" wrap="square" tIns="866500">
            <a:sp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6" name="Google Shape;166;p2"/>
          <p:cNvSpPr txBox="1"/>
          <p:nvPr/>
        </p:nvSpPr>
        <p:spPr>
          <a:xfrm>
            <a:off x="404463" y="971280"/>
            <a:ext cx="4790514" cy="402546"/>
          </a:xfrm>
          <a:prstGeom prst="rect">
            <a:avLst/>
          </a:prstGeom>
          <a:noFill/>
          <a:ln>
            <a:noFill/>
          </a:ln>
        </p:spPr>
        <p:txBody>
          <a:bodyPr anchorCtr="0" anchor="t" bIns="45700" lIns="91425" spcFirstLastPara="1" rIns="91425" wrap="square" tIns="45700">
            <a:spAutoFit/>
          </a:bodyPr>
          <a:lstStyle/>
          <a:p>
            <a:pPr indent="0" lvl="0" marL="47880" marR="0" rtl="0" algn="l">
              <a:lnSpc>
                <a:spcPct val="120000"/>
              </a:lnSpc>
              <a:spcBef>
                <a:spcPts val="0"/>
              </a:spcBef>
              <a:spcAft>
                <a:spcPts val="0"/>
              </a:spcAft>
              <a:buNone/>
            </a:pPr>
            <a:r>
              <a:rPr b="0" i="0" lang="fr-FR" sz="1800" u="none" cap="none" strike="noStrike">
                <a:solidFill>
                  <a:schemeClr val="dk1"/>
                </a:solidFill>
                <a:latin typeface="Arial"/>
                <a:ea typeface="Arial"/>
                <a:cs typeface="Arial"/>
                <a:sym typeface="Arial"/>
              </a:rPr>
              <a:t>Présentation personnelle :</a:t>
            </a:r>
            <a:endParaRPr b="0" i="0" sz="1800" u="none" cap="none" strike="noStrike">
              <a:solidFill>
                <a:schemeClr val="dk1"/>
              </a:solidFill>
              <a:latin typeface="Arial"/>
              <a:ea typeface="Arial"/>
              <a:cs typeface="Arial"/>
              <a:sym typeface="Arial"/>
            </a:endParaRPr>
          </a:p>
        </p:txBody>
      </p:sp>
      <p:sp>
        <p:nvSpPr>
          <p:cNvPr id="167" name="Google Shape;167;p2"/>
          <p:cNvSpPr txBox="1"/>
          <p:nvPr>
            <p:ph idx="1" type="body"/>
          </p:nvPr>
        </p:nvSpPr>
        <p:spPr>
          <a:xfrm>
            <a:off x="333360" y="1389685"/>
            <a:ext cx="6497746" cy="3700027"/>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fr-FR" sz="1100">
                <a:solidFill>
                  <a:schemeClr val="dk1"/>
                </a:solidFill>
                <a:latin typeface="Calibri"/>
                <a:ea typeface="Calibri"/>
                <a:cs typeface="Calibri"/>
                <a:sym typeface="Calibri"/>
              </a:rPr>
              <a:t>❖ </a:t>
            </a:r>
            <a:r>
              <a:rPr lang="fr-FR" sz="1100">
                <a:latin typeface="Calibri"/>
                <a:ea typeface="Calibri"/>
                <a:cs typeface="Calibri"/>
                <a:sym typeface="Calibri"/>
              </a:rPr>
              <a:t>Benjamin Boniface</a:t>
            </a:r>
            <a:endParaRPr/>
          </a:p>
          <a:p>
            <a:pPr indent="0" lvl="0" marL="47880" rtl="0" algn="l">
              <a:lnSpc>
                <a:spcPct val="120000"/>
              </a:lnSpc>
              <a:spcBef>
                <a:spcPts val="750"/>
              </a:spcBef>
              <a:spcAft>
                <a:spcPts val="0"/>
              </a:spcAft>
              <a:buSzPts val="640"/>
              <a:buNone/>
            </a:pPr>
            <a:r>
              <a:t/>
            </a:r>
            <a:endParaRPr sz="800">
              <a:latin typeface="Calibri"/>
              <a:ea typeface="Calibri"/>
              <a:cs typeface="Calibri"/>
              <a:sym typeface="Calibri"/>
            </a:endParaRPr>
          </a:p>
          <a:p>
            <a:pPr indent="0" lvl="0" marL="0" rtl="0" algn="l">
              <a:lnSpc>
                <a:spcPct val="120000"/>
              </a:lnSpc>
              <a:spcBef>
                <a:spcPts val="750"/>
              </a:spcBef>
              <a:spcAft>
                <a:spcPts val="0"/>
              </a:spcAft>
              <a:buNone/>
            </a:pPr>
            <a:r>
              <a:rPr b="1" lang="fr-FR" sz="1100">
                <a:solidFill>
                  <a:schemeClr val="dk1"/>
                </a:solidFill>
                <a:latin typeface="Calibri"/>
                <a:ea typeface="Calibri"/>
                <a:cs typeface="Calibri"/>
                <a:sym typeface="Calibri"/>
              </a:rPr>
              <a:t>❖ </a:t>
            </a:r>
            <a:r>
              <a:rPr b="0" lang="fr-FR" sz="1100" u="none" strike="noStrike">
                <a:latin typeface="Calibri"/>
                <a:ea typeface="Calibri"/>
                <a:cs typeface="Calibri"/>
                <a:sym typeface="Calibri"/>
              </a:rPr>
              <a:t>Formation initiale Licence en Qualité sécurité environnement </a:t>
            </a:r>
            <a:endParaRPr/>
          </a:p>
          <a:p>
            <a:pPr indent="0" lvl="0" marL="557212" rtl="0" algn="l">
              <a:lnSpc>
                <a:spcPct val="120000"/>
              </a:lnSpc>
              <a:spcBef>
                <a:spcPts val="750"/>
              </a:spcBef>
              <a:spcAft>
                <a:spcPts val="0"/>
              </a:spcAft>
              <a:buNone/>
            </a:pPr>
            <a:r>
              <a:rPr b="0" lang="fr-FR" sz="950" u="none" strike="noStrike">
                <a:latin typeface="Calibri"/>
                <a:ea typeface="Calibri"/>
                <a:cs typeface="Calibri"/>
                <a:sym typeface="Calibri"/>
              </a:rPr>
              <a:t>Responsable QSE dans des entreprises du domaine de la Métallurgie.</a:t>
            </a:r>
            <a:endParaRPr/>
          </a:p>
          <a:p>
            <a:pPr indent="-130810" lvl="0" marL="219330" rtl="0" algn="l">
              <a:lnSpc>
                <a:spcPct val="120000"/>
              </a:lnSpc>
              <a:spcBef>
                <a:spcPts val="750"/>
              </a:spcBef>
              <a:spcAft>
                <a:spcPts val="0"/>
              </a:spcAft>
              <a:buSzPts val="640"/>
              <a:buFont typeface="Noto Sans Symbols"/>
              <a:buNone/>
            </a:pPr>
            <a:r>
              <a:t/>
            </a:r>
            <a:endParaRPr sz="800">
              <a:latin typeface="Calibri"/>
              <a:ea typeface="Calibri"/>
              <a:cs typeface="Calibri"/>
              <a:sym typeface="Calibri"/>
            </a:endParaRPr>
          </a:p>
          <a:p>
            <a:pPr indent="0" lvl="0" marL="0" rtl="0" algn="l">
              <a:lnSpc>
                <a:spcPct val="120000"/>
              </a:lnSpc>
              <a:spcBef>
                <a:spcPts val="750"/>
              </a:spcBef>
              <a:spcAft>
                <a:spcPts val="0"/>
              </a:spcAft>
              <a:buNone/>
            </a:pPr>
            <a:r>
              <a:rPr lang="fr-FR" sz="1100">
                <a:latin typeface="Calibri"/>
                <a:ea typeface="Calibri"/>
                <a:cs typeface="Calibri"/>
                <a:sym typeface="Calibri"/>
              </a:rPr>
              <a:t>R</a:t>
            </a:r>
            <a:r>
              <a:rPr b="0" lang="fr-FR" sz="1100" u="none" strike="noStrike">
                <a:latin typeface="Calibri"/>
                <a:ea typeface="Calibri"/>
                <a:cs typeface="Calibri"/>
                <a:sym typeface="Calibri"/>
              </a:rPr>
              <a:t>éorientation</a:t>
            </a:r>
            <a:endParaRPr/>
          </a:p>
          <a:p>
            <a:pPr indent="0" lvl="0" marL="557212" rtl="0" algn="l">
              <a:lnSpc>
                <a:spcPct val="120000"/>
              </a:lnSpc>
              <a:spcBef>
                <a:spcPts val="750"/>
              </a:spcBef>
              <a:spcAft>
                <a:spcPts val="0"/>
              </a:spcAft>
              <a:buNone/>
            </a:pPr>
            <a:r>
              <a:rPr lang="fr-FR" sz="950">
                <a:latin typeface="Calibri"/>
                <a:ea typeface="Calibri"/>
                <a:cs typeface="Calibri"/>
                <a:sym typeface="Calibri"/>
              </a:rPr>
              <a:t>Travail dans des Association de protection des animaux</a:t>
            </a:r>
            <a:endParaRPr/>
          </a:p>
          <a:p>
            <a:pPr indent="0" lvl="0" marL="557212" rtl="0" algn="l">
              <a:lnSpc>
                <a:spcPct val="120000"/>
              </a:lnSpc>
              <a:spcBef>
                <a:spcPts val="750"/>
              </a:spcBef>
              <a:spcAft>
                <a:spcPts val="0"/>
              </a:spcAft>
              <a:buNone/>
            </a:pPr>
            <a:r>
              <a:rPr b="0" lang="fr-FR" sz="950" u="none" strike="noStrike">
                <a:latin typeface="Calibri"/>
                <a:ea typeface="Calibri"/>
                <a:cs typeface="Calibri"/>
                <a:sym typeface="Calibri"/>
              </a:rPr>
              <a:t>Création d’une </a:t>
            </a:r>
            <a:r>
              <a:rPr lang="fr-FR" sz="950">
                <a:latin typeface="Calibri"/>
                <a:ea typeface="Calibri"/>
                <a:cs typeface="Calibri"/>
                <a:sym typeface="Calibri"/>
              </a:rPr>
              <a:t>micro-entreprise dans le travail du bois</a:t>
            </a:r>
            <a:endParaRPr/>
          </a:p>
          <a:p>
            <a:pPr indent="-130809" lvl="1" marL="519368" rtl="0" algn="l">
              <a:lnSpc>
                <a:spcPct val="120000"/>
              </a:lnSpc>
              <a:spcBef>
                <a:spcPts val="750"/>
              </a:spcBef>
              <a:spcAft>
                <a:spcPts val="0"/>
              </a:spcAft>
              <a:buSzPts val="640"/>
              <a:buFont typeface="Noto Sans Symbols"/>
              <a:buNone/>
            </a:pPr>
            <a:r>
              <a:t/>
            </a:r>
            <a:endParaRPr b="0" sz="800" u="none" strike="noStrike">
              <a:latin typeface="Calibri"/>
              <a:ea typeface="Calibri"/>
              <a:cs typeface="Calibri"/>
              <a:sym typeface="Calibri"/>
            </a:endParaRPr>
          </a:p>
          <a:p>
            <a:pPr indent="0" lvl="0" marL="0" rtl="0" algn="l">
              <a:lnSpc>
                <a:spcPct val="120000"/>
              </a:lnSpc>
              <a:spcBef>
                <a:spcPts val="750"/>
              </a:spcBef>
              <a:spcAft>
                <a:spcPts val="0"/>
              </a:spcAft>
              <a:buNone/>
            </a:pPr>
            <a:r>
              <a:rPr b="1" lang="fr-FR" sz="1100">
                <a:solidFill>
                  <a:schemeClr val="dk1"/>
                </a:solidFill>
                <a:latin typeface="Calibri"/>
                <a:ea typeface="Calibri"/>
                <a:cs typeface="Calibri"/>
                <a:sym typeface="Calibri"/>
              </a:rPr>
              <a:t>❖ </a:t>
            </a:r>
            <a:r>
              <a:rPr lang="fr-FR" sz="1100">
                <a:latin typeface="Calibri"/>
                <a:ea typeface="Calibri"/>
                <a:cs typeface="Calibri"/>
                <a:sym typeface="Calibri"/>
              </a:rPr>
              <a:t>Moniteur d’atelier dans un Etablissement d’aide et de soutien par le travail</a:t>
            </a:r>
            <a:endParaRPr/>
          </a:p>
          <a:p>
            <a:pPr indent="0" lvl="0" marL="557212" rtl="0" algn="l">
              <a:lnSpc>
                <a:spcPct val="120000"/>
              </a:lnSpc>
              <a:spcBef>
                <a:spcPts val="750"/>
              </a:spcBef>
              <a:spcAft>
                <a:spcPts val="0"/>
              </a:spcAft>
              <a:buNone/>
            </a:pPr>
            <a:r>
              <a:rPr lang="fr-FR" sz="950">
                <a:latin typeface="Calibri"/>
                <a:ea typeface="Calibri"/>
                <a:cs typeface="Calibri"/>
                <a:sym typeface="Calibri"/>
              </a:rPr>
              <a:t>Le métier de moniteur consiste en : </a:t>
            </a:r>
            <a:endParaRPr/>
          </a:p>
          <a:p>
            <a:pPr indent="0" lvl="0" marL="857250" rtl="0" algn="l">
              <a:lnSpc>
                <a:spcPct val="120000"/>
              </a:lnSpc>
              <a:spcBef>
                <a:spcPts val="750"/>
              </a:spcBef>
              <a:spcAft>
                <a:spcPts val="0"/>
              </a:spcAft>
              <a:buNone/>
            </a:pPr>
            <a:r>
              <a:rPr lang="fr-FR" sz="800">
                <a:latin typeface="Calibri"/>
                <a:ea typeface="Calibri"/>
                <a:cs typeface="Calibri"/>
                <a:sym typeface="Calibri"/>
              </a:rPr>
              <a:t>Faire monter en compétence les usagers via l’outil de travail</a:t>
            </a:r>
            <a:endParaRPr/>
          </a:p>
          <a:p>
            <a:pPr indent="0" lvl="0" marL="857250" rtl="0" algn="l">
              <a:lnSpc>
                <a:spcPct val="120000"/>
              </a:lnSpc>
              <a:spcBef>
                <a:spcPts val="750"/>
              </a:spcBef>
              <a:spcAft>
                <a:spcPts val="0"/>
              </a:spcAft>
              <a:buNone/>
            </a:pPr>
            <a:r>
              <a:rPr lang="fr-FR" sz="800">
                <a:latin typeface="Calibri"/>
                <a:ea typeface="Calibri"/>
                <a:cs typeface="Calibri"/>
                <a:sym typeface="Calibri"/>
              </a:rPr>
              <a:t>Adapter les apprentissages en fonction de la production et des savoir-faire / compétences des usagers</a:t>
            </a:r>
            <a:endParaRPr/>
          </a:p>
          <a:p>
            <a:pPr indent="-130809" lvl="2" marL="819405" rtl="0" algn="l">
              <a:lnSpc>
                <a:spcPct val="120000"/>
              </a:lnSpc>
              <a:spcBef>
                <a:spcPts val="750"/>
              </a:spcBef>
              <a:spcAft>
                <a:spcPts val="0"/>
              </a:spcAft>
              <a:buSzPts val="640"/>
              <a:buFont typeface="Noto Sans Symbols"/>
              <a:buNone/>
            </a:pPr>
            <a:r>
              <a:t/>
            </a:r>
            <a:endParaRPr sz="800">
              <a:latin typeface="Calibri"/>
              <a:ea typeface="Calibri"/>
              <a:cs typeface="Calibri"/>
              <a:sym typeface="Calibri"/>
            </a:endParaRPr>
          </a:p>
          <a:p>
            <a:pPr indent="-130809" lvl="2" marL="819405" rtl="0" algn="l">
              <a:lnSpc>
                <a:spcPct val="120000"/>
              </a:lnSpc>
              <a:spcBef>
                <a:spcPts val="750"/>
              </a:spcBef>
              <a:spcAft>
                <a:spcPts val="0"/>
              </a:spcAft>
              <a:buSzPts val="640"/>
              <a:buFont typeface="Noto Sans Symbols"/>
              <a:buNone/>
            </a:pPr>
            <a:r>
              <a:t/>
            </a:r>
            <a:endParaRPr sz="800">
              <a:latin typeface="Calibri"/>
              <a:ea typeface="Calibri"/>
              <a:cs typeface="Calibri"/>
              <a:sym typeface="Calibri"/>
            </a:endParaRPr>
          </a:p>
          <a:p>
            <a:pPr indent="0" lvl="0" marL="47880" rtl="0" algn="l">
              <a:lnSpc>
                <a:spcPct val="120000"/>
              </a:lnSpc>
              <a:spcBef>
                <a:spcPts val="750"/>
              </a:spcBef>
              <a:spcAft>
                <a:spcPts val="0"/>
              </a:spcAft>
              <a:buSzPts val="880"/>
              <a:buNone/>
            </a:pPr>
            <a:r>
              <a:t/>
            </a:r>
            <a:endParaRPr b="1" sz="1100">
              <a:latin typeface="Arial Rounded"/>
              <a:ea typeface="Arial Rounded"/>
              <a:cs typeface="Arial Rounded"/>
              <a:sym typeface="Arial Rounded"/>
            </a:endParaRPr>
          </a:p>
        </p:txBody>
      </p:sp>
      <p:sp>
        <p:nvSpPr>
          <p:cNvPr id="168" name="Google Shape;168;p2"/>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Introduction</a:t>
            </a:r>
            <a:endParaRPr b="1" i="0" sz="24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
          <p:cNvSpPr txBox="1"/>
          <p:nvPr>
            <p:ph idx="1" type="body"/>
          </p:nvPr>
        </p:nvSpPr>
        <p:spPr>
          <a:xfrm>
            <a:off x="622470" y="1363468"/>
            <a:ext cx="6430511" cy="3465752"/>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fr-FR" sz="1100">
                <a:solidFill>
                  <a:schemeClr val="dk1"/>
                </a:solidFill>
                <a:latin typeface="Calibri"/>
                <a:ea typeface="Calibri"/>
                <a:cs typeface="Calibri"/>
                <a:sym typeface="Calibri"/>
              </a:rPr>
              <a:t>❖ </a:t>
            </a:r>
            <a:r>
              <a:rPr lang="fr-FR" sz="1100">
                <a:latin typeface="Calibri"/>
                <a:ea typeface="Calibri"/>
                <a:cs typeface="Calibri"/>
                <a:sym typeface="Calibri"/>
              </a:rPr>
              <a:t>Fondation ANAIS </a:t>
            </a:r>
            <a:endParaRPr/>
          </a:p>
          <a:p>
            <a:pPr indent="-295200" lvl="0" marL="343080" rtl="0" algn="l">
              <a:lnSpc>
                <a:spcPct val="120000"/>
              </a:lnSpc>
              <a:spcBef>
                <a:spcPts val="750"/>
              </a:spcBef>
              <a:spcAft>
                <a:spcPts val="0"/>
              </a:spcAft>
              <a:buSzPts val="880"/>
              <a:buNone/>
            </a:pPr>
            <a:r>
              <a:rPr b="0" lang="fr-FR" sz="1100" u="none" strike="noStrike">
                <a:latin typeface="Calibri"/>
                <a:ea typeface="Calibri"/>
                <a:cs typeface="Calibri"/>
                <a:sym typeface="Calibri"/>
              </a:rPr>
              <a:t>		-utilité public</a:t>
            </a:r>
            <a:endParaRPr/>
          </a:p>
          <a:p>
            <a:pPr indent="-295200" lvl="0" marL="343080" rtl="0" algn="l">
              <a:lnSpc>
                <a:spcPct val="120000"/>
              </a:lnSpc>
              <a:spcBef>
                <a:spcPts val="750"/>
              </a:spcBef>
              <a:spcAft>
                <a:spcPts val="0"/>
              </a:spcAft>
              <a:buSzPts val="880"/>
              <a:buNone/>
            </a:pPr>
            <a:r>
              <a:rPr lang="fr-FR" sz="1100">
                <a:latin typeface="Calibri"/>
                <a:ea typeface="Calibri"/>
                <a:cs typeface="Calibri"/>
                <a:sym typeface="Calibri"/>
              </a:rPr>
              <a:t>		-102 </a:t>
            </a:r>
            <a:r>
              <a:rPr lang="fr-FR" sz="1100">
                <a:latin typeface="Calibri"/>
                <a:ea typeface="Calibri"/>
                <a:cs typeface="Calibri"/>
                <a:sym typeface="Calibri"/>
              </a:rPr>
              <a:t>Établissements</a:t>
            </a:r>
            <a:r>
              <a:rPr lang="fr-FR" sz="1100">
                <a:latin typeface="Calibri"/>
                <a:ea typeface="Calibri"/>
                <a:cs typeface="Calibri"/>
                <a:sym typeface="Calibri"/>
              </a:rPr>
              <a:t> dans tout le secteur du handicape, 2200 collaborateurs, 4000 place d’accueil</a:t>
            </a:r>
            <a:endParaRPr/>
          </a:p>
          <a:p>
            <a:pPr indent="-295200" lvl="0" marL="343080" rtl="0" algn="l">
              <a:lnSpc>
                <a:spcPct val="120000"/>
              </a:lnSpc>
              <a:spcBef>
                <a:spcPts val="750"/>
              </a:spcBef>
              <a:spcAft>
                <a:spcPts val="0"/>
              </a:spcAft>
              <a:buSzPts val="880"/>
              <a:buNone/>
            </a:pPr>
            <a:r>
              <a:rPr b="0" lang="fr-FR" sz="1100" u="none" strike="noStrike">
                <a:latin typeface="Calibri"/>
                <a:ea typeface="Calibri"/>
                <a:cs typeface="Calibri"/>
                <a:sym typeface="Calibri"/>
              </a:rPr>
              <a:t>		-Un service informatique de 3 personnes</a:t>
            </a:r>
            <a:endParaRPr b="0" sz="1100" u="none" strike="noStrike">
              <a:latin typeface="Calibri"/>
              <a:ea typeface="Calibri"/>
              <a:cs typeface="Calibri"/>
              <a:sym typeface="Calibri"/>
            </a:endParaRPr>
          </a:p>
          <a:p>
            <a:pPr indent="0" lvl="0" marL="0" rtl="0" algn="l">
              <a:lnSpc>
                <a:spcPct val="120000"/>
              </a:lnSpc>
              <a:spcBef>
                <a:spcPts val="750"/>
              </a:spcBef>
              <a:spcAft>
                <a:spcPts val="0"/>
              </a:spcAft>
              <a:buNone/>
            </a:pPr>
            <a:r>
              <a:rPr b="1" lang="fr-FR" sz="1100">
                <a:solidFill>
                  <a:schemeClr val="dk1"/>
                </a:solidFill>
                <a:latin typeface="Calibri"/>
                <a:ea typeface="Calibri"/>
                <a:cs typeface="Calibri"/>
                <a:sym typeface="Calibri"/>
              </a:rPr>
              <a:t>❖</a:t>
            </a:r>
            <a:r>
              <a:rPr lang="fr-FR" sz="1100">
                <a:solidFill>
                  <a:schemeClr val="dk1"/>
                </a:solidFill>
                <a:latin typeface="Calibri"/>
                <a:ea typeface="Calibri"/>
                <a:cs typeface="Calibri"/>
                <a:sym typeface="Calibri"/>
              </a:rPr>
              <a:t> L’Esat de Domfront</a:t>
            </a:r>
            <a:endParaRPr sz="1100">
              <a:solidFill>
                <a:schemeClr val="dk1"/>
              </a:solidFill>
              <a:latin typeface="Calibri"/>
              <a:ea typeface="Calibri"/>
              <a:cs typeface="Calibri"/>
              <a:sym typeface="Calibri"/>
            </a:endParaRPr>
          </a:p>
          <a:p>
            <a:pPr indent="0" lvl="0" marL="0" rtl="0" algn="l">
              <a:lnSpc>
                <a:spcPct val="120000"/>
              </a:lnSpc>
              <a:spcBef>
                <a:spcPts val="750"/>
              </a:spcBef>
              <a:spcAft>
                <a:spcPts val="0"/>
              </a:spcAft>
              <a:buNone/>
            </a:pPr>
            <a:r>
              <a:rPr lang="fr-FR" sz="1100">
                <a:latin typeface="Calibri"/>
                <a:ea typeface="Calibri"/>
                <a:cs typeface="Calibri"/>
                <a:sym typeface="Calibri"/>
              </a:rPr>
              <a:t> </a:t>
            </a:r>
            <a:r>
              <a:rPr b="0" lang="fr-FR" sz="1100" u="none" strike="noStrike">
                <a:latin typeface="Calibri"/>
                <a:ea typeface="Calibri"/>
                <a:cs typeface="Calibri"/>
                <a:sym typeface="Calibri"/>
              </a:rPr>
              <a:t>15 professionnelles qui accueil 105 usagers en situation de handicape</a:t>
            </a:r>
            <a:r>
              <a:rPr lang="fr-FR" sz="1100">
                <a:latin typeface="Calibri"/>
                <a:ea typeface="Calibri"/>
                <a:cs typeface="Calibri"/>
                <a:sym typeface="Calibri"/>
              </a:rPr>
              <a:t> </a:t>
            </a:r>
            <a:endParaRPr/>
          </a:p>
          <a:p>
            <a:pPr indent="0" lvl="0" marL="557212" rtl="0" algn="l">
              <a:lnSpc>
                <a:spcPct val="120000"/>
              </a:lnSpc>
              <a:spcBef>
                <a:spcPts val="750"/>
              </a:spcBef>
              <a:spcAft>
                <a:spcPts val="0"/>
              </a:spcAft>
              <a:buNone/>
            </a:pPr>
            <a:r>
              <a:rPr lang="fr-FR" sz="950">
                <a:latin typeface="Calibri"/>
                <a:ea typeface="Calibri"/>
                <a:cs typeface="Calibri"/>
                <a:sym typeface="Calibri"/>
              </a:rPr>
              <a:t>-</a:t>
            </a:r>
            <a:r>
              <a:rPr lang="fr-FR" sz="950">
                <a:latin typeface="Calibri"/>
                <a:ea typeface="Calibri"/>
                <a:cs typeface="Calibri"/>
                <a:sym typeface="Calibri"/>
              </a:rPr>
              <a:t>Pas de service informatique sur place</a:t>
            </a:r>
            <a:endParaRPr sz="950">
              <a:latin typeface="Calibri"/>
              <a:ea typeface="Calibri"/>
              <a:cs typeface="Calibri"/>
              <a:sym typeface="Calibri"/>
            </a:endParaRPr>
          </a:p>
          <a:p>
            <a:pPr indent="0" lvl="0" marL="557212" rtl="0" algn="l">
              <a:lnSpc>
                <a:spcPct val="120000"/>
              </a:lnSpc>
              <a:spcBef>
                <a:spcPts val="750"/>
              </a:spcBef>
              <a:spcAft>
                <a:spcPts val="0"/>
              </a:spcAft>
              <a:buNone/>
            </a:pPr>
            <a:r>
              <a:rPr lang="fr-FR" sz="950">
                <a:latin typeface="Calibri"/>
                <a:ea typeface="Calibri"/>
                <a:cs typeface="Calibri"/>
                <a:sym typeface="Calibri"/>
              </a:rPr>
              <a:t>-</a:t>
            </a:r>
            <a:r>
              <a:rPr lang="fr-FR" sz="950">
                <a:latin typeface="Calibri"/>
                <a:ea typeface="Calibri"/>
                <a:cs typeface="Calibri"/>
                <a:sym typeface="Calibri"/>
              </a:rPr>
              <a:t>Établissement Novateur et militant </a:t>
            </a:r>
            <a:endParaRPr sz="950">
              <a:latin typeface="Calibri"/>
              <a:ea typeface="Calibri"/>
              <a:cs typeface="Calibri"/>
              <a:sym typeface="Calibri"/>
            </a:endParaRPr>
          </a:p>
          <a:p>
            <a:pPr indent="0" lvl="0" marL="557212" rtl="0" algn="l">
              <a:lnSpc>
                <a:spcPct val="120000"/>
              </a:lnSpc>
              <a:spcBef>
                <a:spcPts val="750"/>
              </a:spcBef>
              <a:spcAft>
                <a:spcPts val="0"/>
              </a:spcAft>
              <a:buNone/>
            </a:pPr>
            <a:r>
              <a:rPr lang="fr-FR" sz="950">
                <a:latin typeface="Calibri"/>
                <a:ea typeface="Calibri"/>
                <a:cs typeface="Calibri"/>
                <a:sym typeface="Calibri"/>
              </a:rPr>
              <a:t>-</a:t>
            </a:r>
            <a:r>
              <a:rPr lang="fr-FR" sz="950">
                <a:latin typeface="Calibri"/>
                <a:ea typeface="Calibri"/>
                <a:cs typeface="Calibri"/>
                <a:sym typeface="Calibri"/>
              </a:rPr>
              <a:t>9 Usagers en 3 ans ont obtenue un CAP </a:t>
            </a:r>
            <a:endParaRPr/>
          </a:p>
          <a:p>
            <a:pPr indent="-295200" lvl="0" marL="343080" rtl="0" algn="l">
              <a:lnSpc>
                <a:spcPct val="120000"/>
              </a:lnSpc>
              <a:spcBef>
                <a:spcPts val="750"/>
              </a:spcBef>
              <a:spcAft>
                <a:spcPts val="0"/>
              </a:spcAft>
              <a:buSzPts val="880"/>
              <a:buNone/>
            </a:pPr>
            <a:r>
              <a:t/>
            </a:r>
            <a:endParaRPr b="1" sz="1100" u="none" strike="noStrike">
              <a:latin typeface="Arial Rounded"/>
              <a:ea typeface="Arial Rounded"/>
              <a:cs typeface="Arial Rounded"/>
              <a:sym typeface="Arial Rounded"/>
            </a:endParaRPr>
          </a:p>
        </p:txBody>
      </p:sp>
      <p:sp>
        <p:nvSpPr>
          <p:cNvPr id="175" name="Google Shape;175;p3"/>
          <p:cNvSpPr txBox="1"/>
          <p:nvPr/>
        </p:nvSpPr>
        <p:spPr>
          <a:xfrm>
            <a:off x="333360" y="960922"/>
            <a:ext cx="4790514" cy="402546"/>
          </a:xfrm>
          <a:prstGeom prst="rect">
            <a:avLst/>
          </a:prstGeom>
          <a:noFill/>
          <a:ln>
            <a:noFill/>
          </a:ln>
        </p:spPr>
        <p:txBody>
          <a:bodyPr anchorCtr="0" anchor="t" bIns="45700" lIns="91425" spcFirstLastPara="1" rIns="91425" wrap="square" tIns="45700">
            <a:spAutoFit/>
          </a:bodyPr>
          <a:lstStyle/>
          <a:p>
            <a:pPr indent="0" lvl="0" marL="47880" marR="0" rtl="0" algn="l">
              <a:lnSpc>
                <a:spcPct val="120000"/>
              </a:lnSpc>
              <a:spcBef>
                <a:spcPts val="0"/>
              </a:spcBef>
              <a:spcAft>
                <a:spcPts val="0"/>
              </a:spcAft>
              <a:buNone/>
            </a:pPr>
            <a:r>
              <a:rPr b="0" i="0" lang="fr-FR" sz="1800" u="none" cap="none" strike="noStrike">
                <a:solidFill>
                  <a:schemeClr val="dk1"/>
                </a:solidFill>
                <a:latin typeface="Arial"/>
                <a:ea typeface="Arial"/>
                <a:cs typeface="Arial"/>
                <a:sym typeface="Arial"/>
              </a:rPr>
              <a:t>L’ESAT de Domfront en POIRAIE</a:t>
            </a:r>
            <a:endParaRPr b="0" i="0" sz="1800" u="none" cap="none" strike="noStrike">
              <a:solidFill>
                <a:schemeClr val="dk1"/>
              </a:solidFill>
              <a:latin typeface="Arial"/>
              <a:ea typeface="Arial"/>
              <a:cs typeface="Arial"/>
              <a:sym typeface="Arial"/>
            </a:endParaRPr>
          </a:p>
        </p:txBody>
      </p:sp>
      <p:pic>
        <p:nvPicPr>
          <p:cNvPr id="176" name="Google Shape;176;p3"/>
          <p:cNvPicPr preferRelativeResize="0"/>
          <p:nvPr/>
        </p:nvPicPr>
        <p:blipFill rotWithShape="1">
          <a:blip r:embed="rId3">
            <a:alphaModFix/>
          </a:blip>
          <a:srcRect b="0" l="0" r="0" t="0"/>
          <a:stretch/>
        </p:blipFill>
        <p:spPr>
          <a:xfrm>
            <a:off x="3320400" y="3508436"/>
            <a:ext cx="4511489" cy="1414643"/>
          </a:xfrm>
          <a:prstGeom prst="rect">
            <a:avLst/>
          </a:prstGeom>
          <a:noFill/>
          <a:ln>
            <a:noFill/>
          </a:ln>
        </p:spPr>
      </p:pic>
      <p:pic>
        <p:nvPicPr>
          <p:cNvPr id="177" name="Google Shape;177;p3"/>
          <p:cNvPicPr preferRelativeResize="0"/>
          <p:nvPr/>
        </p:nvPicPr>
        <p:blipFill rotWithShape="1">
          <a:blip r:embed="rId4">
            <a:alphaModFix/>
          </a:blip>
          <a:srcRect b="0" l="0" r="0" t="0"/>
          <a:stretch/>
        </p:blipFill>
        <p:spPr>
          <a:xfrm>
            <a:off x="7612920" y="314280"/>
            <a:ext cx="1016459" cy="954588"/>
          </a:xfrm>
          <a:prstGeom prst="rect">
            <a:avLst/>
          </a:prstGeom>
          <a:noFill/>
          <a:ln>
            <a:noFill/>
          </a:ln>
        </p:spPr>
      </p:pic>
      <p:sp>
        <p:nvSpPr>
          <p:cNvPr id="178" name="Google Shape;178;p3"/>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Introduction</a:t>
            </a:r>
            <a:endParaRPr b="1" i="0" sz="24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71450" lvl="0" marL="219330" marR="0" rtl="0" algn="l">
              <a:lnSpc>
                <a:spcPct val="120000"/>
              </a:lnSpc>
              <a:spcBef>
                <a:spcPts val="0"/>
              </a:spcBef>
              <a:spcAft>
                <a:spcPts val="0"/>
              </a:spcAft>
              <a:buClr>
                <a:schemeClr val="dk1"/>
              </a:buClr>
              <a:buSzPts val="1100"/>
              <a:buFont typeface="Noto Sans Symbols"/>
              <a:buChar char="❖"/>
            </a:pPr>
            <a:r>
              <a:rPr b="0" i="0" lang="fr-FR" sz="1100" u="none" cap="none" strike="noStrike">
                <a:solidFill>
                  <a:schemeClr val="dk1"/>
                </a:solidFill>
                <a:latin typeface="Calibri"/>
                <a:ea typeface="Calibri"/>
                <a:cs typeface="Calibri"/>
                <a:sym typeface="Calibri"/>
              </a:rPr>
              <a:t>Difficulté de trouver de nouveau client industrielle</a:t>
            </a:r>
            <a:endParaRPr/>
          </a:p>
          <a:p>
            <a:pPr indent="0" lvl="0" marL="47880" marR="0" rtl="0" algn="l">
              <a:lnSpc>
                <a:spcPct val="120000"/>
              </a:lnSpc>
              <a:spcBef>
                <a:spcPts val="0"/>
              </a:spcBef>
              <a:spcAft>
                <a:spcPts val="0"/>
              </a:spcAft>
              <a:buNone/>
            </a:pPr>
            <a:r>
              <a:t/>
            </a:r>
            <a:endParaRPr b="0" i="0" sz="1100" u="none" cap="none" strike="noStrike">
              <a:solidFill>
                <a:schemeClr val="dk1"/>
              </a:solidFill>
              <a:latin typeface="Calibri"/>
              <a:ea typeface="Calibri"/>
              <a:cs typeface="Calibri"/>
              <a:sym typeface="Calibri"/>
            </a:endParaRPr>
          </a:p>
          <a:p>
            <a:pPr indent="-101600" lvl="0" marL="219330" marR="0" rtl="0" algn="l">
              <a:lnSpc>
                <a:spcPct val="12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Calibri"/>
              <a:ea typeface="Calibri"/>
              <a:cs typeface="Calibri"/>
              <a:sym typeface="Calibri"/>
            </a:endParaRPr>
          </a:p>
          <a:p>
            <a:pPr indent="-171450" lvl="0" marL="219330" marR="0" rtl="0" algn="l">
              <a:lnSpc>
                <a:spcPct val="120000"/>
              </a:lnSpc>
              <a:spcBef>
                <a:spcPts val="0"/>
              </a:spcBef>
              <a:spcAft>
                <a:spcPts val="0"/>
              </a:spcAft>
              <a:buClr>
                <a:schemeClr val="dk1"/>
              </a:buClr>
              <a:buSzPts val="1100"/>
              <a:buFont typeface="Noto Sans Symbols"/>
              <a:buChar char="❖"/>
            </a:pPr>
            <a:r>
              <a:rPr b="0" i="0" lang="fr-FR" sz="1100" u="none" cap="none" strike="noStrike">
                <a:solidFill>
                  <a:schemeClr val="dk1"/>
                </a:solidFill>
                <a:latin typeface="Calibri"/>
                <a:ea typeface="Calibri"/>
                <a:cs typeface="Calibri"/>
                <a:sym typeface="Calibri"/>
              </a:rPr>
              <a:t>Etude d</a:t>
            </a:r>
            <a:r>
              <a:rPr lang="fr-FR" sz="1100">
                <a:solidFill>
                  <a:schemeClr val="dk1"/>
                </a:solidFill>
                <a:latin typeface="Calibri"/>
                <a:ea typeface="Calibri"/>
                <a:cs typeface="Calibri"/>
                <a:sym typeface="Calibri"/>
              </a:rPr>
              <a:t>u</a:t>
            </a:r>
            <a:r>
              <a:rPr b="0" i="0" lang="fr-FR" sz="1100" u="none" cap="none" strike="noStrike">
                <a:solidFill>
                  <a:schemeClr val="dk1"/>
                </a:solidFill>
                <a:latin typeface="Calibri"/>
                <a:ea typeface="Calibri"/>
                <a:cs typeface="Calibri"/>
                <a:sym typeface="Calibri"/>
              </a:rPr>
              <a:t> </a:t>
            </a:r>
            <a:r>
              <a:rPr lang="fr-FR" sz="1100">
                <a:solidFill>
                  <a:schemeClr val="dk1"/>
                </a:solidFill>
                <a:latin typeface="Calibri"/>
                <a:ea typeface="Calibri"/>
                <a:cs typeface="Calibri"/>
                <a:sym typeface="Calibri"/>
              </a:rPr>
              <a:t>macro et micro </a:t>
            </a:r>
            <a:r>
              <a:rPr lang="fr-FR" sz="1100">
                <a:solidFill>
                  <a:schemeClr val="dk1"/>
                </a:solidFill>
                <a:latin typeface="Calibri"/>
                <a:ea typeface="Calibri"/>
                <a:cs typeface="Calibri"/>
                <a:sym typeface="Calibri"/>
              </a:rPr>
              <a:t>environnement</a:t>
            </a:r>
            <a:r>
              <a:rPr lang="fr-FR" sz="1100">
                <a:solidFill>
                  <a:schemeClr val="dk1"/>
                </a:solidFill>
                <a:latin typeface="Calibri"/>
                <a:ea typeface="Calibri"/>
                <a:cs typeface="Calibri"/>
                <a:sym typeface="Calibri"/>
              </a:rPr>
              <a:t> de l’ESAT</a:t>
            </a:r>
            <a:endParaRPr/>
          </a:p>
          <a:p>
            <a:pPr indent="457200" lvl="0" marL="0" marR="0" rtl="0" algn="l">
              <a:lnSpc>
                <a:spcPct val="120000"/>
              </a:lnSpc>
              <a:spcBef>
                <a:spcPts val="0"/>
              </a:spcBef>
              <a:spcAft>
                <a:spcPts val="0"/>
              </a:spcAft>
              <a:buClr>
                <a:schemeClr val="dk1"/>
              </a:buClr>
              <a:buSzPts val="1100"/>
              <a:buFont typeface="Calibri"/>
              <a:buNone/>
            </a:pPr>
            <a:r>
              <a:rPr b="0" i="0" lang="fr-FR" sz="1100" u="none" cap="none" strike="noStrike">
                <a:solidFill>
                  <a:schemeClr val="dk1"/>
                </a:solidFill>
                <a:latin typeface="Calibri"/>
                <a:ea typeface="Calibri"/>
                <a:cs typeface="Calibri"/>
                <a:sym typeface="Calibri"/>
              </a:rPr>
              <a:t>- </a:t>
            </a:r>
            <a:r>
              <a:rPr lang="fr-FR" sz="1050">
                <a:solidFill>
                  <a:schemeClr val="dk1"/>
                </a:solidFill>
                <a:latin typeface="Calibri"/>
                <a:ea typeface="Calibri"/>
                <a:cs typeface="Calibri"/>
                <a:sym typeface="Calibri"/>
              </a:rPr>
              <a:t>Faire monter en compétence numérique de nos Usager  </a:t>
            </a:r>
            <a:endParaRPr sz="1050">
              <a:solidFill>
                <a:schemeClr val="dk1"/>
              </a:solidFill>
              <a:latin typeface="Calibri"/>
              <a:ea typeface="Calibri"/>
              <a:cs typeface="Calibri"/>
              <a:sym typeface="Calibri"/>
            </a:endParaRPr>
          </a:p>
          <a:p>
            <a:pPr indent="457200" lvl="0" marL="0" marR="0" rtl="0" algn="l">
              <a:lnSpc>
                <a:spcPct val="120000"/>
              </a:lnSpc>
              <a:spcBef>
                <a:spcPts val="0"/>
              </a:spcBef>
              <a:spcAft>
                <a:spcPts val="0"/>
              </a:spcAft>
              <a:buClr>
                <a:schemeClr val="dk1"/>
              </a:buClr>
              <a:buSzPts val="1100"/>
              <a:buFont typeface="Calibri"/>
              <a:buNone/>
            </a:pPr>
            <a:r>
              <a:rPr lang="fr-FR" sz="1050">
                <a:solidFill>
                  <a:schemeClr val="dk1"/>
                </a:solidFill>
                <a:latin typeface="Calibri"/>
                <a:ea typeface="Calibri"/>
                <a:cs typeface="Calibri"/>
                <a:sym typeface="Calibri"/>
              </a:rPr>
              <a:t>- </a:t>
            </a:r>
            <a:r>
              <a:rPr lang="fr-FR" sz="1050">
                <a:solidFill>
                  <a:schemeClr val="dk1"/>
                </a:solidFill>
                <a:latin typeface="Calibri"/>
                <a:ea typeface="Calibri"/>
                <a:cs typeface="Calibri"/>
                <a:sym typeface="Calibri"/>
              </a:rPr>
              <a:t>Entrer des données à bas coût</a:t>
            </a:r>
            <a:endParaRPr sz="1050">
              <a:solidFill>
                <a:schemeClr val="dk1"/>
              </a:solidFill>
              <a:latin typeface="Calibri"/>
              <a:ea typeface="Calibri"/>
              <a:cs typeface="Calibri"/>
              <a:sym typeface="Calibri"/>
            </a:endParaRPr>
          </a:p>
          <a:p>
            <a:pPr indent="457200" lvl="0" marL="0" marR="0" rtl="0" algn="l">
              <a:lnSpc>
                <a:spcPct val="120000"/>
              </a:lnSpc>
              <a:spcBef>
                <a:spcPts val="0"/>
              </a:spcBef>
              <a:spcAft>
                <a:spcPts val="0"/>
              </a:spcAft>
              <a:buClr>
                <a:schemeClr val="dk1"/>
              </a:buClr>
              <a:buSzPts val="1100"/>
              <a:buFont typeface="Calibri"/>
              <a:buNone/>
            </a:pPr>
            <a:r>
              <a:rPr lang="fr-FR" sz="1050">
                <a:solidFill>
                  <a:schemeClr val="dk1"/>
                </a:solidFill>
                <a:latin typeface="Calibri"/>
                <a:ea typeface="Calibri"/>
                <a:cs typeface="Calibri"/>
                <a:sym typeface="Calibri"/>
              </a:rPr>
              <a:t>- Attaquer de nouveau marchés</a:t>
            </a:r>
            <a:endParaRPr sz="1050">
              <a:solidFill>
                <a:schemeClr val="dk1"/>
              </a:solidFill>
              <a:latin typeface="Calibri"/>
              <a:ea typeface="Calibri"/>
              <a:cs typeface="Calibri"/>
              <a:sym typeface="Calibri"/>
            </a:endParaRPr>
          </a:p>
          <a:p>
            <a:pPr indent="-295200" lvl="0" marL="343080" marR="0" rtl="0" algn="l">
              <a:lnSpc>
                <a:spcPct val="120000"/>
              </a:lnSpc>
              <a:spcBef>
                <a:spcPts val="0"/>
              </a:spcBef>
              <a:spcAft>
                <a:spcPts val="0"/>
              </a:spcAft>
              <a:buClr>
                <a:schemeClr val="dk1"/>
              </a:buClr>
              <a:buSzPts val="1050"/>
              <a:buFont typeface="Calibri"/>
              <a:buNone/>
            </a:pPr>
            <a:r>
              <a:rPr b="0" i="0" lang="fr-FR" sz="1050" u="none" cap="none" strike="noStrike">
                <a:solidFill>
                  <a:schemeClr val="dk1"/>
                </a:solidFill>
                <a:latin typeface="Calibri"/>
                <a:ea typeface="Calibri"/>
                <a:cs typeface="Calibri"/>
                <a:sym typeface="Calibri"/>
              </a:rPr>
              <a:t>		</a:t>
            </a:r>
            <a:endParaRPr/>
          </a:p>
          <a:p>
            <a:pPr indent="-295200" lvl="0" marL="343080" marR="0" rtl="0" algn="l">
              <a:lnSpc>
                <a:spcPct val="120000"/>
              </a:lnSpc>
              <a:spcBef>
                <a:spcPts val="0"/>
              </a:spcBef>
              <a:spcAft>
                <a:spcPts val="0"/>
              </a:spcAft>
              <a:buClr>
                <a:schemeClr val="dk1"/>
              </a:buClr>
              <a:buSzPts val="1050"/>
              <a:buFont typeface="Trebuchet MS"/>
              <a:buNone/>
            </a:pPr>
            <a:r>
              <a:t/>
            </a:r>
            <a:endParaRPr b="0" i="0" sz="1050" u="none" cap="none" strike="noStrike">
              <a:solidFill>
                <a:schemeClr val="dk1"/>
              </a:solidFill>
              <a:latin typeface="Calibri"/>
              <a:ea typeface="Calibri"/>
              <a:cs typeface="Calibri"/>
              <a:sym typeface="Calibri"/>
            </a:endParaRPr>
          </a:p>
          <a:p>
            <a:pPr indent="-295200" lvl="0" marL="343080" marR="0" rtl="0" algn="l">
              <a:lnSpc>
                <a:spcPct val="120000"/>
              </a:lnSpc>
              <a:spcBef>
                <a:spcPts val="0"/>
              </a:spcBef>
              <a:spcAft>
                <a:spcPts val="0"/>
              </a:spcAft>
              <a:buClr>
                <a:schemeClr val="dk1"/>
              </a:buClr>
              <a:buSzPts val="1050"/>
              <a:buFont typeface="Noto Sans Symbols"/>
              <a:buChar char="❖"/>
            </a:pPr>
            <a:r>
              <a:rPr b="0" i="0" lang="fr-FR" sz="1050" u="none" cap="none" strike="noStrike">
                <a:solidFill>
                  <a:schemeClr val="dk1"/>
                </a:solidFill>
                <a:latin typeface="Calibri"/>
                <a:ea typeface="Calibri"/>
                <a:cs typeface="Calibri"/>
                <a:sym typeface="Calibri"/>
              </a:rPr>
              <a:t>Besoin d’un développeur d’application métier adapté aux spécificités du publique</a:t>
            </a:r>
            <a:endParaRPr/>
          </a:p>
          <a:p>
            <a:pPr indent="0" lvl="2" marL="962280" marR="0" rtl="0" algn="l">
              <a:lnSpc>
                <a:spcPct val="120000"/>
              </a:lnSpc>
              <a:spcBef>
                <a:spcPts val="0"/>
              </a:spcBef>
              <a:spcAft>
                <a:spcPts val="0"/>
              </a:spcAft>
              <a:buNone/>
            </a:pPr>
            <a:r>
              <a:t/>
            </a:r>
            <a:endParaRPr/>
          </a:p>
        </p:txBody>
      </p:sp>
      <p:sp>
        <p:nvSpPr>
          <p:cNvPr id="185" name="Google Shape;185;p4"/>
          <p:cNvSpPr txBox="1"/>
          <p:nvPr/>
        </p:nvSpPr>
        <p:spPr>
          <a:xfrm>
            <a:off x="333360" y="960922"/>
            <a:ext cx="4790514" cy="402546"/>
          </a:xfrm>
          <a:prstGeom prst="rect">
            <a:avLst/>
          </a:prstGeom>
          <a:noFill/>
          <a:ln>
            <a:noFill/>
          </a:ln>
        </p:spPr>
        <p:txBody>
          <a:bodyPr anchorCtr="0" anchor="t" bIns="45700" lIns="91425" spcFirstLastPara="1" rIns="91425" wrap="square" tIns="45700">
            <a:spAutoFit/>
          </a:bodyPr>
          <a:lstStyle/>
          <a:p>
            <a:pPr indent="0" lvl="0" marL="47880" marR="0" rtl="0" algn="l">
              <a:lnSpc>
                <a:spcPct val="120000"/>
              </a:lnSpc>
              <a:spcBef>
                <a:spcPts val="0"/>
              </a:spcBef>
              <a:spcAft>
                <a:spcPts val="0"/>
              </a:spcAft>
              <a:buNone/>
            </a:pPr>
            <a:r>
              <a:rPr b="0" i="0" lang="fr-FR" sz="1800" u="none" cap="none" strike="noStrike">
                <a:solidFill>
                  <a:schemeClr val="dk1"/>
                </a:solidFill>
                <a:latin typeface="Arial"/>
                <a:ea typeface="Arial"/>
                <a:cs typeface="Arial"/>
                <a:sym typeface="Arial"/>
              </a:rPr>
              <a:t>Pourquoi la formation informatique ?</a:t>
            </a:r>
            <a:endParaRPr b="0" i="0" sz="1800" u="none" cap="none" strike="noStrike">
              <a:solidFill>
                <a:schemeClr val="dk1"/>
              </a:solidFill>
              <a:latin typeface="Arial"/>
              <a:ea typeface="Arial"/>
              <a:cs typeface="Arial"/>
              <a:sym typeface="Arial"/>
            </a:endParaRPr>
          </a:p>
        </p:txBody>
      </p:sp>
      <p:pic>
        <p:nvPicPr>
          <p:cNvPr id="186" name="Google Shape;186;p4"/>
          <p:cNvPicPr preferRelativeResize="0"/>
          <p:nvPr/>
        </p:nvPicPr>
        <p:blipFill rotWithShape="1">
          <a:blip r:embed="rId3">
            <a:alphaModFix/>
          </a:blip>
          <a:srcRect b="0" l="0" r="0" t="0"/>
          <a:stretch/>
        </p:blipFill>
        <p:spPr>
          <a:xfrm>
            <a:off x="4953508" y="551329"/>
            <a:ext cx="1422730" cy="1475916"/>
          </a:xfrm>
          <a:prstGeom prst="rect">
            <a:avLst/>
          </a:prstGeom>
          <a:noFill/>
          <a:ln>
            <a:noFill/>
          </a:ln>
        </p:spPr>
      </p:pic>
      <p:sp>
        <p:nvSpPr>
          <p:cNvPr id="187" name="Google Shape;187;p4"/>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Introduction</a:t>
            </a:r>
            <a:endParaRPr b="1" i="0" sz="24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5"/>
          <p:cNvSpPr/>
          <p:nvPr/>
        </p:nvSpPr>
        <p:spPr>
          <a:xfrm>
            <a:off x="126151" y="1023000"/>
            <a:ext cx="1550100" cy="1159800"/>
          </a:xfrm>
          <a:prstGeom prst="homePlate">
            <a:avLst>
              <a:gd fmla="val 50000" name="adj"/>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t/>
            </a:r>
            <a:endParaRPr b="0" i="0" sz="1200" u="none" cap="none" strike="noStrike">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Modélisation</a:t>
            </a:r>
            <a:endParaRPr/>
          </a:p>
        </p:txBody>
      </p:sp>
      <p:sp>
        <p:nvSpPr>
          <p:cNvPr id="194" name="Google Shape;194;p5"/>
          <p:cNvSpPr/>
          <p:nvPr/>
        </p:nvSpPr>
        <p:spPr>
          <a:xfrm>
            <a:off x="1179939" y="1023000"/>
            <a:ext cx="2319600" cy="1159800"/>
          </a:xfrm>
          <a:prstGeom prst="chevron">
            <a:avLst>
              <a:gd fmla="val 50000" name="adj"/>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Organisation du projet</a:t>
            </a:r>
            <a:endParaRPr/>
          </a:p>
        </p:txBody>
      </p:sp>
      <p:sp>
        <p:nvSpPr>
          <p:cNvPr id="195" name="Google Shape;195;p5"/>
          <p:cNvSpPr/>
          <p:nvPr/>
        </p:nvSpPr>
        <p:spPr>
          <a:xfrm>
            <a:off x="2988296" y="1023000"/>
            <a:ext cx="2423400" cy="1159800"/>
          </a:xfrm>
          <a:prstGeom prst="chevron">
            <a:avLst>
              <a:gd fmla="val 50000" name="adj"/>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Logiciel</a:t>
            </a:r>
            <a:endParaRPr/>
          </a:p>
        </p:txBody>
      </p:sp>
      <p:sp>
        <p:nvSpPr>
          <p:cNvPr id="196" name="Google Shape;196;p5"/>
          <p:cNvSpPr/>
          <p:nvPr/>
        </p:nvSpPr>
        <p:spPr>
          <a:xfrm>
            <a:off x="4913741" y="1023000"/>
            <a:ext cx="2176500" cy="1159800"/>
          </a:xfrm>
          <a:prstGeom prst="chevron">
            <a:avLst>
              <a:gd fmla="val 50000" name="adj"/>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Test et gestion des versions</a:t>
            </a:r>
            <a:endParaRPr/>
          </a:p>
        </p:txBody>
      </p:sp>
      <p:sp>
        <p:nvSpPr>
          <p:cNvPr id="197" name="Google Shape;197;p5"/>
          <p:cNvSpPr/>
          <p:nvPr/>
        </p:nvSpPr>
        <p:spPr>
          <a:xfrm>
            <a:off x="6612447" y="1023000"/>
            <a:ext cx="2535000" cy="1159800"/>
          </a:xfrm>
          <a:prstGeom prst="chevron">
            <a:avLst>
              <a:gd fmla="val 50000" name="adj"/>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Mise à Disposition des utilisateurs</a:t>
            </a:r>
            <a:endParaRPr/>
          </a:p>
        </p:txBody>
      </p:sp>
      <p:sp>
        <p:nvSpPr>
          <p:cNvPr id="198" name="Google Shape;198;p5"/>
          <p:cNvSpPr txBox="1"/>
          <p:nvPr/>
        </p:nvSpPr>
        <p:spPr>
          <a:xfrm>
            <a:off x="405176" y="536526"/>
            <a:ext cx="10069500" cy="486600"/>
          </a:xfrm>
          <a:prstGeom prst="rect">
            <a:avLst/>
          </a:prstGeom>
          <a:noFill/>
          <a:ln>
            <a:noFill/>
          </a:ln>
        </p:spPr>
        <p:txBody>
          <a:bodyPr anchorCtr="0" anchor="b" bIns="91425" lIns="91425" spcFirstLastPara="1" rIns="91425" wrap="square" tIns="91425">
            <a:noAutofit/>
          </a:bodyPr>
          <a:lstStyle/>
          <a:p>
            <a:pPr indent="0" lvl="0" marL="0" marR="0" rtl="0" algn="l">
              <a:spcBef>
                <a:spcPts val="0"/>
              </a:spcBef>
              <a:spcAft>
                <a:spcPts val="0"/>
              </a:spcAft>
              <a:buNone/>
            </a:pPr>
            <a:r>
              <a:rPr b="1" i="0" lang="fr-FR" sz="2000" u="none" cap="none" strike="noStrike">
                <a:solidFill>
                  <a:schemeClr val="dk1"/>
                </a:solidFill>
                <a:latin typeface="Arial Rounded"/>
                <a:ea typeface="Arial Rounded"/>
                <a:cs typeface="Arial Rounded"/>
                <a:sym typeface="Arial Rounded"/>
              </a:rPr>
              <a:t>Processus Principal : Production d’un service numérique</a:t>
            </a:r>
            <a:endParaRPr/>
          </a:p>
        </p:txBody>
      </p:sp>
      <p:sp>
        <p:nvSpPr>
          <p:cNvPr id="199" name="Google Shape;199;p5"/>
          <p:cNvSpPr/>
          <p:nvPr/>
        </p:nvSpPr>
        <p:spPr>
          <a:xfrm>
            <a:off x="1491810" y="3719777"/>
            <a:ext cx="2860200" cy="906600"/>
          </a:xfrm>
          <a:prstGeom prst="homePlate">
            <a:avLst>
              <a:gd fmla="val 50000" name="adj"/>
            </a:avLst>
          </a:prstGeom>
          <a:solidFill>
            <a:srgbClr val="F39BC7"/>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Communication </a:t>
            </a:r>
            <a:endParaRPr/>
          </a:p>
        </p:txBody>
      </p:sp>
      <p:sp>
        <p:nvSpPr>
          <p:cNvPr id="200" name="Google Shape;200;p5"/>
          <p:cNvSpPr/>
          <p:nvPr/>
        </p:nvSpPr>
        <p:spPr>
          <a:xfrm>
            <a:off x="3951171" y="3719777"/>
            <a:ext cx="2698500" cy="906600"/>
          </a:xfrm>
          <a:prstGeom prst="chevron">
            <a:avLst>
              <a:gd fmla="val 50000" name="adj"/>
            </a:avLst>
          </a:prstGeom>
          <a:solidFill>
            <a:srgbClr val="F39BC7"/>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200" u="none" cap="none" strike="noStrike">
                <a:solidFill>
                  <a:schemeClr val="lt1"/>
                </a:solidFill>
                <a:latin typeface="Trebuchet MS"/>
                <a:ea typeface="Trebuchet MS"/>
                <a:cs typeface="Trebuchet MS"/>
                <a:sym typeface="Trebuchet MS"/>
              </a:rPr>
              <a:t>Developpement de compétence individuelle</a:t>
            </a:r>
            <a:endParaRPr/>
          </a:p>
        </p:txBody>
      </p:sp>
      <p:sp>
        <p:nvSpPr>
          <p:cNvPr id="201" name="Google Shape;201;p5"/>
          <p:cNvSpPr txBox="1"/>
          <p:nvPr/>
        </p:nvSpPr>
        <p:spPr>
          <a:xfrm>
            <a:off x="2646679" y="2834580"/>
            <a:ext cx="10069500" cy="486600"/>
          </a:xfrm>
          <a:prstGeom prst="rect">
            <a:avLst/>
          </a:prstGeom>
          <a:noFill/>
          <a:ln>
            <a:noFill/>
          </a:ln>
        </p:spPr>
        <p:txBody>
          <a:bodyPr anchorCtr="0" anchor="b" bIns="91425" lIns="91425" spcFirstLastPara="1" rIns="91425" wrap="square" tIns="91425">
            <a:noAutofit/>
          </a:bodyPr>
          <a:lstStyle/>
          <a:p>
            <a:pPr indent="0" lvl="0" marL="0" marR="0" rtl="0" algn="l">
              <a:spcBef>
                <a:spcPts val="0"/>
              </a:spcBef>
              <a:spcAft>
                <a:spcPts val="0"/>
              </a:spcAft>
              <a:buNone/>
            </a:pPr>
            <a:r>
              <a:rPr b="1" i="0" lang="fr-FR" sz="2000" u="none" cap="none" strike="noStrike">
                <a:solidFill>
                  <a:schemeClr val="dk1"/>
                </a:solidFill>
                <a:latin typeface="Arial Rounded"/>
                <a:ea typeface="Arial Rounded"/>
                <a:cs typeface="Arial Rounded"/>
                <a:sym typeface="Arial Rounded"/>
              </a:rPr>
              <a:t>Processus Support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6"/>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Analyse du SI et redéfinition du projet</a:t>
            </a:r>
            <a:endParaRPr b="1" i="0" sz="2400" u="none" cap="none" strike="noStrike">
              <a:solidFill>
                <a:srgbClr val="3F3F3F"/>
              </a:solidFill>
              <a:latin typeface="Arial"/>
              <a:ea typeface="Arial"/>
              <a:cs typeface="Arial"/>
              <a:sym typeface="Arial"/>
            </a:endParaRPr>
          </a:p>
        </p:txBody>
      </p:sp>
      <p:sp>
        <p:nvSpPr>
          <p:cNvPr id="208" name="Google Shape;208;p6"/>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i="0" sz="1050" u="none" cap="none" strike="noStrike">
              <a:solidFill>
                <a:schemeClr val="dk1"/>
              </a:solidFill>
              <a:latin typeface="Calibri"/>
              <a:ea typeface="Calibri"/>
              <a:cs typeface="Calibri"/>
              <a:sym typeface="Calibri"/>
            </a:endParaRPr>
          </a:p>
        </p:txBody>
      </p:sp>
      <p:sp>
        <p:nvSpPr>
          <p:cNvPr id="209" name="Google Shape;209;p6"/>
          <p:cNvSpPr txBox="1"/>
          <p:nvPr/>
        </p:nvSpPr>
        <p:spPr>
          <a:xfrm>
            <a:off x="333360" y="1238908"/>
            <a:ext cx="6780134" cy="34323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fr-FR" sz="1100" u="none" cap="none" strike="noStrike">
                <a:solidFill>
                  <a:schemeClr val="dk1"/>
                </a:solidFill>
                <a:latin typeface="Calibri"/>
                <a:ea typeface="Calibri"/>
                <a:cs typeface="Calibri"/>
                <a:sym typeface="Calibri"/>
              </a:rPr>
              <a:t>Projet initial (entreprise)</a:t>
            </a:r>
            <a:endParaRPr b="1"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lang="fr-FR" sz="1100">
                <a:solidFill>
                  <a:schemeClr val="dk1"/>
                </a:solidFill>
                <a:latin typeface="Calibri"/>
                <a:ea typeface="Calibri"/>
                <a:cs typeface="Calibri"/>
                <a:sym typeface="Calibri"/>
              </a:rPr>
              <a:t>	</a:t>
            </a:r>
            <a:r>
              <a:rPr lang="fr-FR" sz="1100">
                <a:solidFill>
                  <a:schemeClr val="dk1"/>
                </a:solidFill>
                <a:latin typeface="Calibri"/>
                <a:ea typeface="Calibri"/>
                <a:cs typeface="Calibri"/>
                <a:sym typeface="Calibri"/>
              </a:rPr>
              <a:t>Définition</a:t>
            </a:r>
            <a:r>
              <a:rPr lang="fr-FR" sz="1100">
                <a:solidFill>
                  <a:schemeClr val="dk1"/>
                </a:solidFill>
                <a:latin typeface="Calibri"/>
                <a:ea typeface="Calibri"/>
                <a:cs typeface="Calibri"/>
                <a:sym typeface="Calibri"/>
              </a:rPr>
              <a:t> du projet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Analyse  :</a:t>
            </a:r>
            <a:r>
              <a:rPr lang="fr-FR" sz="1100">
                <a:solidFill>
                  <a:schemeClr val="dk1"/>
                </a:solidFill>
                <a:latin typeface="Calibri"/>
                <a:ea typeface="Calibri"/>
                <a:cs typeface="Calibri"/>
                <a:sym typeface="Calibri"/>
              </a:rPr>
              <a:t> processus-</a:t>
            </a:r>
            <a:r>
              <a:rPr lang="fr-FR" sz="1100">
                <a:solidFill>
                  <a:schemeClr val="dk1"/>
                </a:solidFill>
                <a:latin typeface="Calibri"/>
                <a:ea typeface="Calibri"/>
                <a:cs typeface="Calibri"/>
                <a:sym typeface="Calibri"/>
              </a:rPr>
              <a:t> procédure - -mode opératoire </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Modélisation globale</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100">
                <a:solidFill>
                  <a:schemeClr val="dk1"/>
                </a:solidFill>
                <a:latin typeface="Calibri"/>
                <a:ea typeface="Calibri"/>
                <a:cs typeface="Calibri"/>
                <a:sym typeface="Calibri"/>
              </a:rPr>
              <a:t>❖ Constat</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Complexité importante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Périmètre large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Non réaliste pour un développeur seul en début de formation</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100">
                <a:solidFill>
                  <a:schemeClr val="dk1"/>
                </a:solidFill>
                <a:latin typeface="Calibri"/>
                <a:ea typeface="Calibri"/>
                <a:cs typeface="Calibri"/>
                <a:sym typeface="Calibri"/>
              </a:rPr>
              <a:t>❖ Décision stratégique</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Recentrage sur la génération de fiches chantier</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a:t>
            </a:r>
            <a:endParaRPr/>
          </a:p>
        </p:txBody>
      </p:sp>
      <p:sp>
        <p:nvSpPr>
          <p:cNvPr id="210" name="Google Shape;210;p6"/>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pic>
        <p:nvPicPr>
          <p:cNvPr id="211" name="Google Shape;211;p6"/>
          <p:cNvPicPr preferRelativeResize="0"/>
          <p:nvPr/>
        </p:nvPicPr>
        <p:blipFill>
          <a:blip r:embed="rId3">
            <a:alphaModFix/>
          </a:blip>
          <a:stretch>
            <a:fillRect/>
          </a:stretch>
        </p:blipFill>
        <p:spPr>
          <a:xfrm>
            <a:off x="5143052" y="971275"/>
            <a:ext cx="3590373" cy="3970524"/>
          </a:xfrm>
          <a:prstGeom prst="rect">
            <a:avLst/>
          </a:prstGeom>
          <a:noFill/>
          <a:ln>
            <a:noFill/>
          </a:ln>
        </p:spPr>
      </p:pic>
      <p:sp>
        <p:nvSpPr>
          <p:cNvPr id="212" name="Google Shape;212;p6"/>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ERP entretien des locaux</a:t>
            </a:r>
            <a:endParaRPr sz="1350">
              <a:solidFill>
                <a:srgbClr val="3F3F3F"/>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7"/>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Travail en mode projet Agile</a:t>
            </a:r>
            <a:endParaRPr b="1" i="0" sz="2400" u="none" cap="none" strike="noStrike">
              <a:solidFill>
                <a:srgbClr val="3F3F3F"/>
              </a:solidFill>
              <a:latin typeface="Arial"/>
              <a:ea typeface="Arial"/>
              <a:cs typeface="Arial"/>
              <a:sym typeface="Arial"/>
            </a:endParaRPr>
          </a:p>
        </p:txBody>
      </p:sp>
      <p:sp>
        <p:nvSpPr>
          <p:cNvPr id="219" name="Google Shape;219;p7"/>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20" name="Google Shape;220;p7"/>
          <p:cNvSpPr txBox="1"/>
          <p:nvPr/>
        </p:nvSpPr>
        <p:spPr>
          <a:xfrm>
            <a:off x="333360" y="1238908"/>
            <a:ext cx="6780134" cy="343233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fr-FR" sz="1100">
                <a:solidFill>
                  <a:schemeClr val="dk1"/>
                </a:solidFill>
                <a:latin typeface="Calibri"/>
                <a:ea typeface="Calibri"/>
                <a:cs typeface="Calibri"/>
                <a:sym typeface="Calibri"/>
              </a:rPr>
              <a:t>❖ </a:t>
            </a:r>
            <a:r>
              <a:rPr b="1" lang="fr-FR" sz="1100">
                <a:solidFill>
                  <a:schemeClr val="dk1"/>
                </a:solidFill>
                <a:latin typeface="Calibri"/>
                <a:ea typeface="Calibri"/>
                <a:cs typeface="Calibri"/>
                <a:sym typeface="Calibri"/>
              </a:rPr>
              <a:t>Travail collaboratif</a:t>
            </a:r>
            <a:endParaRPr>
              <a:solidFill>
                <a:schemeClr val="dk1"/>
              </a:solidFill>
            </a:endParaRPr>
          </a:p>
          <a:p>
            <a:pPr indent="0" lvl="0" marL="0" rtl="0" algn="l">
              <a:spcBef>
                <a:spcPts val="0"/>
              </a:spcBef>
              <a:spcAft>
                <a:spcPts val="0"/>
              </a:spcAft>
              <a:buClr>
                <a:schemeClr val="dk1"/>
              </a:buClr>
              <a:buFont typeface="Arial"/>
              <a:buNone/>
            </a:pPr>
            <a:r>
              <a:rPr lang="fr-FR" sz="1100">
                <a:solidFill>
                  <a:schemeClr val="dk1"/>
                </a:solidFill>
                <a:latin typeface="Calibri"/>
                <a:ea typeface="Calibri"/>
                <a:cs typeface="Calibri"/>
                <a:sym typeface="Calibri"/>
              </a:rPr>
              <a:t>	4 développeurs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fr-FR" sz="1100">
                <a:solidFill>
                  <a:schemeClr val="dk1"/>
                </a:solidFill>
                <a:latin typeface="Calibri"/>
                <a:ea typeface="Calibri"/>
                <a:cs typeface="Calibri"/>
                <a:sym typeface="Calibri"/>
              </a:rPr>
              <a:t>	1 Scrum Master</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fr-FR" sz="1100">
                <a:solidFill>
                  <a:schemeClr val="dk1"/>
                </a:solidFill>
                <a:latin typeface="Calibri"/>
                <a:ea typeface="Calibri"/>
                <a:cs typeface="Calibri"/>
                <a:sym typeface="Calibri"/>
              </a:rPr>
              <a:t>	1 Product Owner</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a:t>
            </a:r>
            <a:r>
              <a:rPr b="1" lang="fr-FR" sz="1100">
                <a:solidFill>
                  <a:schemeClr val="dk1"/>
                </a:solidFill>
                <a:latin typeface="Calibri"/>
                <a:ea typeface="Calibri"/>
                <a:cs typeface="Calibri"/>
                <a:sym typeface="Calibri"/>
              </a:rPr>
              <a:t>Organisation du projet</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Découpage en EPICS</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Rédaction de User Stories</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Planification via GitHub Project</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b="1" lang="fr-FR" sz="1100">
                <a:solidFill>
                  <a:schemeClr val="dk1"/>
                </a:solidFill>
                <a:latin typeface="Calibri"/>
                <a:ea typeface="Calibri"/>
                <a:cs typeface="Calibri"/>
                <a:sym typeface="Calibri"/>
              </a:rPr>
              <a:t>❖ Pilotage et suivi</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Sprint de 2 semaines</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Présentation des avancées</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	Ajustement des priorités</a:t>
            </a:r>
            <a:endParaRPr/>
          </a:p>
        </p:txBody>
      </p:sp>
      <p:sp>
        <p:nvSpPr>
          <p:cNvPr id="221" name="Google Shape;221;p7"/>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22" name="Google Shape;222;p7"/>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pic>
        <p:nvPicPr>
          <p:cNvPr id="223" name="Google Shape;223;p7"/>
          <p:cNvPicPr preferRelativeResize="0"/>
          <p:nvPr/>
        </p:nvPicPr>
        <p:blipFill>
          <a:blip r:embed="rId3">
            <a:alphaModFix/>
          </a:blip>
          <a:stretch>
            <a:fillRect/>
          </a:stretch>
        </p:blipFill>
        <p:spPr>
          <a:xfrm>
            <a:off x="2813702" y="1509459"/>
            <a:ext cx="4845650" cy="3029225"/>
          </a:xfrm>
          <a:prstGeom prst="rect">
            <a:avLst/>
          </a:prstGeom>
          <a:noFill/>
          <a:ln>
            <a:noFill/>
          </a:ln>
        </p:spPr>
      </p:pic>
      <p:sp>
        <p:nvSpPr>
          <p:cNvPr id="224" name="Google Shape;224;p7"/>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EasyCleanESAT méthode SCRUM </a:t>
            </a:r>
            <a:endParaRPr sz="1350">
              <a:solidFill>
                <a:srgbClr val="3F3F3F"/>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31" name="Google Shape;231;p8"/>
          <p:cNvSpPr txBox="1"/>
          <p:nvPr/>
        </p:nvSpPr>
        <p:spPr>
          <a:xfrm>
            <a:off x="333359" y="1231802"/>
            <a:ext cx="6780134" cy="34323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Mise en place du repository</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Projet partagé sur GitHub</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Historique centralisé</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Gestion des évolutions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Développement sur branche dédiée pour chaque US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Une branche par fonctionnalité</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Contrôle qualité</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Pull request obligatoire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Relecture par un pair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Merge sur main après validation</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Sécurisation du projet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Traçabilité des modifications</a:t>
            </a:r>
            <a:endParaRPr sz="1100">
              <a:solidFill>
                <a:schemeClr val="dk1"/>
              </a:solidFill>
              <a:latin typeface="Trebuchet MS"/>
              <a:ea typeface="Trebuchet MS"/>
              <a:cs typeface="Trebuchet MS"/>
              <a:sym typeface="Trebuchet MS"/>
            </a:endParaRPr>
          </a:p>
          <a:p>
            <a:pPr indent="457200" lvl="0" marL="0" rtl="0" algn="l">
              <a:spcBef>
                <a:spcPts val="0"/>
              </a:spcBef>
              <a:spcAft>
                <a:spcPts val="0"/>
              </a:spcAft>
              <a:buClr>
                <a:schemeClr val="dk1"/>
              </a:buClr>
              <a:buFont typeface="Arial"/>
              <a:buNone/>
            </a:pPr>
            <a:r>
              <a:rPr lang="fr-FR" sz="1100">
                <a:solidFill>
                  <a:schemeClr val="dk1"/>
                </a:solidFill>
                <a:latin typeface="Trebuchet MS"/>
                <a:ea typeface="Trebuchet MS"/>
                <a:cs typeface="Trebuchet MS"/>
                <a:sym typeface="Trebuchet MS"/>
              </a:rPr>
              <a:t>Suivi des User Stories</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Possibilité de retour arrière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t>
            </a:r>
            <a:endParaRPr/>
          </a:p>
        </p:txBody>
      </p:sp>
      <p:sp>
        <p:nvSpPr>
          <p:cNvPr id="232" name="Google Shape;232;p8"/>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Développement collaboratif</a:t>
            </a:r>
            <a:endParaRPr b="1" i="0" sz="2400" u="none" cap="none" strike="noStrike">
              <a:solidFill>
                <a:srgbClr val="3F3F3F"/>
              </a:solidFill>
              <a:latin typeface="Arial"/>
              <a:ea typeface="Arial"/>
              <a:cs typeface="Arial"/>
              <a:sym typeface="Arial"/>
            </a:endParaRPr>
          </a:p>
        </p:txBody>
      </p:sp>
      <p:sp>
        <p:nvSpPr>
          <p:cNvPr id="233" name="Google Shape;233;p8"/>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34" name="Google Shape;234;p8"/>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sp>
        <p:nvSpPr>
          <p:cNvPr id="235" name="Google Shape;235;p8"/>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EasyCleanESAT et la gestion des versions </a:t>
            </a:r>
            <a:endParaRPr sz="1350">
              <a:solidFill>
                <a:srgbClr val="3F3F3F"/>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9"/>
          <p:cNvSpPr/>
          <p:nvPr/>
        </p:nvSpPr>
        <p:spPr>
          <a:xfrm>
            <a:off x="7727795" y="1384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Logiciel</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42" name="Google Shape;242;p9"/>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43" name="Google Shape;243;p9"/>
          <p:cNvSpPr txBox="1"/>
          <p:nvPr/>
        </p:nvSpPr>
        <p:spPr>
          <a:xfrm>
            <a:off x="333360" y="1330263"/>
            <a:ext cx="6780000" cy="3432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Problématique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Application multi-utilisateur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Nécessité de contrôler les accès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Mise en place de l’authentification sur le projet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Intégration de Spring Security</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Création d’une entité User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Gestion login / mot de passe</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Gestion des habilitations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Définition des rôles : ADMIN / USER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Restriction des routes sensibles vers l’authentification </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Accès différencié selon le profil</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Vérification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Tests avec comptes distincts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Contrôle des accès interdits</a:t>
            </a:r>
            <a:endParaRPr/>
          </a:p>
        </p:txBody>
      </p:sp>
      <p:sp>
        <p:nvSpPr>
          <p:cNvPr id="244" name="Google Shape;244;p9"/>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Sécurisation d’un service </a:t>
            </a:r>
            <a:endParaRPr b="1" i="0" sz="2400" u="none" cap="none" strike="noStrike">
              <a:solidFill>
                <a:srgbClr val="3F3F3F"/>
              </a:solidFill>
              <a:latin typeface="Arial"/>
              <a:ea typeface="Arial"/>
              <a:cs typeface="Arial"/>
              <a:sym typeface="Arial"/>
            </a:endParaRPr>
          </a:p>
        </p:txBody>
      </p:sp>
      <p:sp>
        <p:nvSpPr>
          <p:cNvPr id="245" name="Google Shape;245;p9"/>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46" name="Google Shape;246;p9"/>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sp>
        <p:nvSpPr>
          <p:cNvPr id="247" name="Google Shape;247;p9"/>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PortFolioBuilder Gestion des niveau </a:t>
            </a:r>
            <a:r>
              <a:rPr lang="fr-FR" sz="1350">
                <a:solidFill>
                  <a:srgbClr val="3F3F3F"/>
                </a:solidFill>
                <a:latin typeface="Trebuchet MS"/>
                <a:ea typeface="Trebuchet MS"/>
                <a:cs typeface="Trebuchet MS"/>
                <a:sym typeface="Trebuchet MS"/>
              </a:rPr>
              <a:t>d'habilitation</a:t>
            </a:r>
            <a:r>
              <a:rPr lang="fr-FR" sz="1350">
                <a:solidFill>
                  <a:srgbClr val="3F3F3F"/>
                </a:solidFill>
                <a:latin typeface="Trebuchet MS"/>
                <a:ea typeface="Trebuchet MS"/>
                <a:cs typeface="Trebuchet MS"/>
                <a:sym typeface="Trebuchet MS"/>
              </a:rPr>
              <a:t> </a:t>
            </a:r>
            <a:endParaRPr sz="1350">
              <a:solidFill>
                <a:srgbClr val="3F3F3F"/>
              </a:solidFill>
              <a:latin typeface="Trebuchet MS"/>
              <a:ea typeface="Trebuchet MS"/>
              <a:cs typeface="Trebuchet MS"/>
              <a:sym typeface="Trebuchet MS"/>
            </a:endParaRPr>
          </a:p>
        </p:txBody>
      </p:sp>
      <p:pic>
        <p:nvPicPr>
          <p:cNvPr id="248" name="Google Shape;248;p9"/>
          <p:cNvPicPr preferRelativeResize="0"/>
          <p:nvPr/>
        </p:nvPicPr>
        <p:blipFill>
          <a:blip r:embed="rId3">
            <a:alphaModFix/>
          </a:blip>
          <a:stretch>
            <a:fillRect/>
          </a:stretch>
        </p:blipFill>
        <p:spPr>
          <a:xfrm>
            <a:off x="5397300" y="401038"/>
            <a:ext cx="1615950" cy="47424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0"/>
          <p:cNvSpPr/>
          <p:nvPr/>
        </p:nvSpPr>
        <p:spPr>
          <a:xfrm>
            <a:off x="7727795" y="196349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Test et gestion des versions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55" name="Google Shape;255;p10"/>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56" name="Google Shape;256;p10"/>
          <p:cNvSpPr txBox="1"/>
          <p:nvPr/>
        </p:nvSpPr>
        <p:spPr>
          <a:xfrm>
            <a:off x="333359" y="1242953"/>
            <a:ext cx="6780134" cy="34323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Objectif</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Sécuriser les évolutions du projet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Limiter les régressions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Mise en place des tests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Création de tests unitaires ciblés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Vérification des méthodes </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Avant mise en production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Validation du fonctionnement existant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Test des nouvelles fonctionnalités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Contrôle des effets secondaires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Résultat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Réduction des erreurs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Fiabilité accrue du service</a:t>
            </a:r>
            <a:endParaRPr/>
          </a:p>
        </p:txBody>
      </p:sp>
      <p:sp>
        <p:nvSpPr>
          <p:cNvPr id="257" name="Google Shape;257;p10"/>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Contrôle qualité et tests unitaires</a:t>
            </a:r>
            <a:endParaRPr b="1" i="0" sz="2400" u="none" cap="none" strike="noStrike">
              <a:solidFill>
                <a:srgbClr val="3F3F3F"/>
              </a:solidFill>
              <a:latin typeface="Arial"/>
              <a:ea typeface="Arial"/>
              <a:cs typeface="Arial"/>
              <a:sym typeface="Arial"/>
            </a:endParaRPr>
          </a:p>
        </p:txBody>
      </p:sp>
      <p:sp>
        <p:nvSpPr>
          <p:cNvPr id="258" name="Google Shape;258;p10"/>
          <p:cNvSpPr/>
          <p:nvPr/>
        </p:nvSpPr>
        <p:spPr>
          <a:xfrm>
            <a:off x="7727795" y="1384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Logiciel</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59" name="Google Shape;259;p10"/>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60" name="Google Shape;260;p10"/>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sp>
        <p:nvSpPr>
          <p:cNvPr id="261" name="Google Shape;261;p10"/>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TestDriven Mise a disposition des utilisateur d’un service</a:t>
            </a:r>
            <a:r>
              <a:rPr lang="fr-FR" sz="1350">
                <a:solidFill>
                  <a:srgbClr val="3F3F3F"/>
                </a:solidFill>
                <a:latin typeface="Trebuchet MS"/>
                <a:ea typeface="Trebuchet MS"/>
                <a:cs typeface="Trebuchet MS"/>
                <a:sym typeface="Trebuchet MS"/>
              </a:rPr>
              <a:t> </a:t>
            </a:r>
            <a:endParaRPr sz="1350">
              <a:solidFill>
                <a:srgbClr val="3F3F3F"/>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1"/>
          <p:cNvSpPr/>
          <p:nvPr/>
        </p:nvSpPr>
        <p:spPr>
          <a:xfrm>
            <a:off x="7727795" y="2605203"/>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Mise à Disposition des utilisateurs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68" name="Google Shape;268;p11"/>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69" name="Google Shape;269;p11"/>
          <p:cNvSpPr txBox="1"/>
          <p:nvPr/>
        </p:nvSpPr>
        <p:spPr>
          <a:xfrm>
            <a:off x="333359" y="1241831"/>
            <a:ext cx="6780134" cy="34323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Préparation du déploiement</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Création d’une procédure d’utilisation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Rédaction d’une procédure de mise à jour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Documentation simplifiée</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Présentation du service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Démonstration en réunion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Explication des fonctionnalités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Recueil des retours utilisateurs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Formation individualisée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Accompagnement en tête-à-tête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Mise en situation réelle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Adaptation au niveau de l’utilisateur</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Objectif</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Assurer l’appropriation du service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Garantir l’autonomie progressive</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p:txBody>
      </p:sp>
      <p:sp>
        <p:nvSpPr>
          <p:cNvPr id="270" name="Google Shape;270;p11"/>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7880" lvl="0" marL="47880" marR="0" rtl="0" algn="l">
              <a:lnSpc>
                <a:spcPct val="120000"/>
              </a:lnSpc>
              <a:spcBef>
                <a:spcPts val="0"/>
              </a:spcBef>
              <a:spcAft>
                <a:spcPts val="0"/>
              </a:spcAft>
              <a:buClr>
                <a:schemeClr val="accent1"/>
              </a:buClr>
              <a:buSzPts val="1920"/>
              <a:buFont typeface="Noto Sans Symbols"/>
              <a:buChar char="►"/>
            </a:pPr>
            <a:r>
              <a:rPr b="1" i="0" lang="fr-FR" sz="2400" u="none" cap="none" strike="noStrike">
                <a:solidFill>
                  <a:srgbClr val="3F3F3F"/>
                </a:solidFill>
                <a:latin typeface="Arial"/>
                <a:ea typeface="Arial"/>
                <a:cs typeface="Arial"/>
                <a:sym typeface="Arial"/>
              </a:rPr>
              <a:t>Mise à disposition et formation des utilisateurs</a:t>
            </a:r>
            <a:endParaRPr b="1" i="0" sz="2400" u="none" cap="none" strike="noStrike">
              <a:solidFill>
                <a:srgbClr val="3F3F3F"/>
              </a:solidFill>
              <a:latin typeface="Arial"/>
              <a:ea typeface="Arial"/>
              <a:cs typeface="Arial"/>
              <a:sym typeface="Arial"/>
            </a:endParaRPr>
          </a:p>
        </p:txBody>
      </p:sp>
      <p:sp>
        <p:nvSpPr>
          <p:cNvPr id="271" name="Google Shape;271;p11"/>
          <p:cNvSpPr/>
          <p:nvPr/>
        </p:nvSpPr>
        <p:spPr>
          <a:xfrm>
            <a:off x="7727795" y="196349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Test et gestion des versions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72" name="Google Shape;272;p11"/>
          <p:cNvSpPr/>
          <p:nvPr/>
        </p:nvSpPr>
        <p:spPr>
          <a:xfrm>
            <a:off x="7727795" y="1384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Logiciel</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73" name="Google Shape;273;p11"/>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74" name="Google Shape;274;p11"/>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pic>
        <p:nvPicPr>
          <p:cNvPr id="275" name="Google Shape;275;p11"/>
          <p:cNvPicPr preferRelativeResize="0"/>
          <p:nvPr/>
        </p:nvPicPr>
        <p:blipFill>
          <a:blip r:embed="rId3">
            <a:alphaModFix/>
          </a:blip>
          <a:stretch>
            <a:fillRect/>
          </a:stretch>
        </p:blipFill>
        <p:spPr>
          <a:xfrm>
            <a:off x="4884619" y="971272"/>
            <a:ext cx="1390650" cy="866775"/>
          </a:xfrm>
          <a:prstGeom prst="rect">
            <a:avLst/>
          </a:prstGeom>
          <a:noFill/>
          <a:ln>
            <a:noFill/>
          </a:ln>
        </p:spPr>
      </p:pic>
      <p:pic>
        <p:nvPicPr>
          <p:cNvPr id="276" name="Google Shape;276;p11"/>
          <p:cNvPicPr preferRelativeResize="0"/>
          <p:nvPr/>
        </p:nvPicPr>
        <p:blipFill>
          <a:blip r:embed="rId4">
            <a:alphaModFix/>
          </a:blip>
          <a:stretch>
            <a:fillRect/>
          </a:stretch>
        </p:blipFill>
        <p:spPr>
          <a:xfrm>
            <a:off x="4515334" y="1838050"/>
            <a:ext cx="2129229" cy="3084200"/>
          </a:xfrm>
          <a:prstGeom prst="rect">
            <a:avLst/>
          </a:prstGeom>
          <a:noFill/>
          <a:ln>
            <a:noFill/>
          </a:ln>
        </p:spPr>
      </p:pic>
      <p:sp>
        <p:nvSpPr>
          <p:cNvPr id="277" name="Google Shape;277;p11"/>
          <p:cNvSpPr txBox="1"/>
          <p:nvPr/>
        </p:nvSpPr>
        <p:spPr>
          <a:xfrm>
            <a:off x="333350" y="869800"/>
            <a:ext cx="47862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350">
                <a:solidFill>
                  <a:srgbClr val="3F3F3F"/>
                </a:solidFill>
                <a:latin typeface="Trebuchet MS"/>
                <a:ea typeface="Trebuchet MS"/>
                <a:cs typeface="Trebuchet MS"/>
                <a:sym typeface="Trebuchet MS"/>
              </a:rPr>
              <a:t>mini-logiciel excel, </a:t>
            </a:r>
            <a:r>
              <a:rPr lang="fr-FR" sz="1350">
                <a:solidFill>
                  <a:srgbClr val="3F3F3F"/>
                </a:solidFill>
                <a:latin typeface="Trebuchet MS"/>
                <a:ea typeface="Trebuchet MS"/>
                <a:cs typeface="Trebuchet MS"/>
                <a:sym typeface="Trebuchet MS"/>
              </a:rPr>
              <a:t>génération</a:t>
            </a:r>
            <a:r>
              <a:rPr lang="fr-FR" sz="1350">
                <a:solidFill>
                  <a:srgbClr val="3F3F3F"/>
                </a:solidFill>
                <a:latin typeface="Trebuchet MS"/>
                <a:ea typeface="Trebuchet MS"/>
                <a:cs typeface="Trebuchet MS"/>
                <a:sym typeface="Trebuchet MS"/>
              </a:rPr>
              <a:t> de fiche d’intervention</a:t>
            </a:r>
            <a:r>
              <a:rPr lang="fr-FR" sz="1350">
                <a:solidFill>
                  <a:srgbClr val="3F3F3F"/>
                </a:solidFill>
                <a:latin typeface="Trebuchet MS"/>
                <a:ea typeface="Trebuchet MS"/>
                <a:cs typeface="Trebuchet MS"/>
                <a:sym typeface="Trebuchet MS"/>
              </a:rPr>
              <a:t> </a:t>
            </a:r>
            <a:endParaRPr sz="1350">
              <a:solidFill>
                <a:srgbClr val="3F3F3F"/>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2"/>
          <p:cNvSpPr txBox="1"/>
          <p:nvPr/>
        </p:nvSpPr>
        <p:spPr>
          <a:xfrm>
            <a:off x="333359" y="844668"/>
            <a:ext cx="8060365" cy="400879"/>
          </a:xfrm>
          <a:prstGeom prst="rect">
            <a:avLst/>
          </a:prstGeom>
          <a:noFill/>
          <a:ln>
            <a:noFill/>
          </a:ln>
        </p:spPr>
        <p:txBody>
          <a:bodyPr anchorCtr="0" anchor="t" bIns="45700" lIns="91425" spcFirstLastPara="1" rIns="91425" wrap="square" tIns="45700">
            <a:spAutoFit/>
          </a:bodyPr>
          <a:lstStyle/>
          <a:p>
            <a:pPr indent="0" lvl="0" marL="47880" marR="0" rtl="0" algn="l">
              <a:lnSpc>
                <a:spcPct val="120000"/>
              </a:lnSpc>
              <a:spcBef>
                <a:spcPts val="0"/>
              </a:spcBef>
              <a:spcAft>
                <a:spcPts val="0"/>
              </a:spcAft>
              <a:buNone/>
            </a:pPr>
            <a:r>
              <a:rPr lang="fr-FR" sz="1800">
                <a:solidFill>
                  <a:schemeClr val="dk1"/>
                </a:solidFill>
                <a:latin typeface="Arial"/>
                <a:ea typeface="Arial"/>
                <a:cs typeface="Arial"/>
                <a:sym typeface="Arial"/>
              </a:rPr>
              <a:t>Assurer la pérennité de l’ESAT, et notre rôle d’établissement novateur</a:t>
            </a:r>
            <a:endParaRPr sz="1800" u="none" strike="noStrike">
              <a:solidFill>
                <a:schemeClr val="dk1"/>
              </a:solidFill>
              <a:latin typeface="Arial"/>
              <a:ea typeface="Arial"/>
              <a:cs typeface="Arial"/>
              <a:sym typeface="Arial"/>
            </a:endParaRPr>
          </a:p>
        </p:txBody>
      </p:sp>
      <p:sp>
        <p:nvSpPr>
          <p:cNvPr id="284" name="Google Shape;284;p12"/>
          <p:cNvSpPr txBox="1"/>
          <p:nvPr/>
        </p:nvSpPr>
        <p:spPr>
          <a:xfrm>
            <a:off x="333360" y="1509460"/>
            <a:ext cx="6780134" cy="3432333"/>
          </a:xfrm>
          <a:prstGeom prst="rect">
            <a:avLst/>
          </a:prstGeom>
          <a:noFill/>
          <a:ln>
            <a:noFill/>
          </a:ln>
        </p:spPr>
        <p:txBody>
          <a:bodyPr anchorCtr="0" anchor="t" bIns="45700" lIns="91425" spcFirstLastPara="1" rIns="91425" wrap="square" tIns="45700">
            <a:noAutofit/>
          </a:bodyPr>
          <a:lstStyle/>
          <a:p>
            <a:pPr indent="-104775" lvl="0" marL="219330" marR="0" rtl="0" algn="l">
              <a:lnSpc>
                <a:spcPct val="120000"/>
              </a:lnSpc>
              <a:spcBef>
                <a:spcPts val="0"/>
              </a:spcBef>
              <a:spcAft>
                <a:spcPts val="0"/>
              </a:spcAft>
              <a:buClr>
                <a:schemeClr val="dk1"/>
              </a:buClr>
              <a:buSzPts val="1050"/>
              <a:buFont typeface="Noto Sans Symbols"/>
              <a:buNone/>
            </a:pPr>
            <a:r>
              <a:t/>
            </a:r>
            <a:endParaRPr b="0" sz="1050" u="none" strike="noStrike">
              <a:solidFill>
                <a:schemeClr val="dk1"/>
              </a:solidFill>
              <a:latin typeface="Calibri"/>
              <a:ea typeface="Calibri"/>
              <a:cs typeface="Calibri"/>
              <a:sym typeface="Calibri"/>
            </a:endParaRPr>
          </a:p>
        </p:txBody>
      </p:sp>
      <p:sp>
        <p:nvSpPr>
          <p:cNvPr id="285" name="Google Shape;285;p12"/>
          <p:cNvSpPr txBox="1"/>
          <p:nvPr/>
        </p:nvSpPr>
        <p:spPr>
          <a:xfrm>
            <a:off x="325544" y="1509460"/>
            <a:ext cx="6780134" cy="343233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Contexte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Communication centralisée par la Fondation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Service communication en restructuration</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Action locale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Participation à la stratégie LinkedIn du directeur</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Analyse des cibles : médico-social / entreprises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Objectifs de communication</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Valoriser les pratiques professionnelles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Mettre en avant les compétences des usagers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Attirer de nouveaux partenaires</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Cadre juridique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Vote interne du personnel</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Consentement écrit des personnes affichées</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Respect du droit à l’image</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p:txBody>
      </p:sp>
      <p:sp>
        <p:nvSpPr>
          <p:cNvPr id="286" name="Google Shape;286;p12"/>
          <p:cNvSpPr txBox="1"/>
          <p:nvPr>
            <p:ph type="title"/>
          </p:nvPr>
        </p:nvSpPr>
        <p:spPr>
          <a:xfrm>
            <a:off x="333359" y="314280"/>
            <a:ext cx="7963475" cy="657000"/>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Communication et valorisation de l’ESAT</a:t>
            </a:r>
            <a:endParaRPr b="1" i="0" sz="2400" u="none" cap="none" strike="noStrike">
              <a:solidFill>
                <a:schemeClr val="dk1"/>
              </a:solidFill>
              <a:latin typeface="Arial Rounded"/>
              <a:ea typeface="Arial Rounded"/>
              <a:cs typeface="Arial Rounded"/>
              <a:sym typeface="Arial Rounded"/>
            </a:endParaRPr>
          </a:p>
        </p:txBody>
      </p:sp>
      <p:sp>
        <p:nvSpPr>
          <p:cNvPr id="287" name="Google Shape;287;p12"/>
          <p:cNvSpPr/>
          <p:nvPr/>
        </p:nvSpPr>
        <p:spPr>
          <a:xfrm>
            <a:off x="7727795" y="2605203"/>
            <a:ext cx="1282391" cy="93091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Mise à Disposition des utilisateurs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88" name="Google Shape;288;p12"/>
          <p:cNvSpPr/>
          <p:nvPr/>
        </p:nvSpPr>
        <p:spPr>
          <a:xfrm>
            <a:off x="7727795" y="196349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Test et gestion des versions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89" name="Google Shape;289;p12"/>
          <p:cNvSpPr/>
          <p:nvPr/>
        </p:nvSpPr>
        <p:spPr>
          <a:xfrm>
            <a:off x="7727795" y="1384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Logiciel</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90" name="Google Shape;290;p12"/>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291" name="Google Shape;291;p12"/>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sp>
        <p:nvSpPr>
          <p:cNvPr id="292" name="Google Shape;292;p12"/>
          <p:cNvSpPr/>
          <p:nvPr/>
        </p:nvSpPr>
        <p:spPr>
          <a:xfrm>
            <a:off x="7727795" y="3593042"/>
            <a:ext cx="1282391" cy="823144"/>
          </a:xfrm>
          <a:prstGeom prst="flowChartOffpageConnector">
            <a:avLst/>
          </a:prstGeom>
          <a:solidFill>
            <a:srgbClr val="F39BC7"/>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Communication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3"/>
          <p:cNvSpPr/>
          <p:nvPr/>
        </p:nvSpPr>
        <p:spPr>
          <a:xfrm>
            <a:off x="7720932" y="4133880"/>
            <a:ext cx="1282391" cy="1009620"/>
          </a:xfrm>
          <a:prstGeom prst="flowChartOffpageConnector">
            <a:avLst/>
          </a:prstGeom>
          <a:solidFill>
            <a:srgbClr val="F39BC7"/>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 de compétence individuelle</a:t>
            </a:r>
            <a:endParaRPr/>
          </a:p>
        </p:txBody>
      </p:sp>
      <p:sp>
        <p:nvSpPr>
          <p:cNvPr id="299" name="Google Shape;299;p13"/>
          <p:cNvSpPr/>
          <p:nvPr/>
        </p:nvSpPr>
        <p:spPr>
          <a:xfrm>
            <a:off x="-428760" y="4257720"/>
            <a:ext cx="3228480" cy="3228480"/>
          </a:xfrm>
          <a:prstGeom prst="rect">
            <a:avLst/>
          </a:prstGeom>
          <a:noFill/>
          <a:ln>
            <a:noFill/>
          </a:ln>
        </p:spPr>
        <p:txBody>
          <a:bodyPr anchorCtr="0" anchor="t" bIns="1614225" lIns="870823075" spcFirstLastPara="1" rIns="870823075" wrap="square" tIns="1614225">
            <a:spAutoFit/>
          </a:bodyPr>
          <a:lstStyle/>
          <a:p>
            <a:pPr indent="0" lvl="0" marL="0" marR="0" rtl="0" algn="ctr">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300" name="Google Shape;300;p13"/>
          <p:cNvSpPr/>
          <p:nvPr/>
        </p:nvSpPr>
        <p:spPr>
          <a:xfrm>
            <a:off x="1676520" y="4448160"/>
            <a:ext cx="2238120" cy="2238120"/>
          </a:xfrm>
          <a:prstGeom prst="rect">
            <a:avLst/>
          </a:prstGeom>
          <a:noFill/>
          <a:ln>
            <a:noFill/>
          </a:ln>
        </p:spPr>
        <p:txBody>
          <a:bodyPr anchorCtr="0" anchor="t" bIns="1119225" lIns="870823075" spcFirstLastPara="1" rIns="870823075" wrap="square" tIns="1119225">
            <a:spAutoFit/>
          </a:bodyPr>
          <a:lstStyle/>
          <a:p>
            <a:pPr indent="0" lvl="0" marL="0" marR="0" rtl="0" algn="ctr">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301" name="Google Shape;301;p13"/>
          <p:cNvSpPr/>
          <p:nvPr/>
        </p:nvSpPr>
        <p:spPr>
          <a:xfrm>
            <a:off x="3228840" y="4857840"/>
            <a:ext cx="1733040" cy="1733040"/>
          </a:xfrm>
          <a:prstGeom prst="rect">
            <a:avLst/>
          </a:prstGeom>
          <a:noFill/>
          <a:ln>
            <a:noFill/>
          </a:ln>
        </p:spPr>
        <p:txBody>
          <a:bodyPr anchorCtr="0" anchor="t" bIns="866500" lIns="870823075" spcFirstLastPara="1" rIns="870823075" wrap="square" tIns="866500">
            <a:spAutoFit/>
          </a:bodyPr>
          <a:lstStyle/>
          <a:p>
            <a:pPr indent="0" lvl="0" marL="0" marR="0" rtl="0" algn="ctr">
              <a:lnSpc>
                <a:spcPct val="100000"/>
              </a:lnSpc>
              <a:spcBef>
                <a:spcPts val="0"/>
              </a:spcBef>
              <a:spcAft>
                <a:spcPts val="0"/>
              </a:spcAft>
              <a:buNone/>
            </a:pPr>
            <a:r>
              <a:t/>
            </a:r>
            <a:endParaRPr b="0" sz="1800" u="none" strike="noStrike">
              <a:solidFill>
                <a:schemeClr val="dk1"/>
              </a:solidFill>
              <a:latin typeface="Arial"/>
              <a:ea typeface="Arial"/>
              <a:cs typeface="Arial"/>
              <a:sym typeface="Arial"/>
            </a:endParaRPr>
          </a:p>
        </p:txBody>
      </p:sp>
      <p:sp>
        <p:nvSpPr>
          <p:cNvPr id="302" name="Google Shape;302;p13"/>
          <p:cNvSpPr txBox="1"/>
          <p:nvPr>
            <p:ph type="title"/>
          </p:nvPr>
        </p:nvSpPr>
        <p:spPr>
          <a:xfrm>
            <a:off x="333359" y="314280"/>
            <a:ext cx="8669964" cy="657000"/>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Développement professionnel et</a:t>
            </a:r>
            <a:br>
              <a:rPr b="1" i="0" lang="fr-FR" sz="2400" u="none" cap="none" strike="noStrike">
                <a:solidFill>
                  <a:schemeClr val="dk1"/>
                </a:solidFill>
                <a:latin typeface="Arial Rounded"/>
                <a:ea typeface="Arial Rounded"/>
                <a:cs typeface="Arial Rounded"/>
                <a:sym typeface="Arial Rounded"/>
              </a:rPr>
            </a:br>
            <a:r>
              <a:rPr b="1" i="0" lang="fr-FR" sz="2400" u="none" cap="none" strike="noStrike">
                <a:solidFill>
                  <a:schemeClr val="dk1"/>
                </a:solidFill>
                <a:latin typeface="Arial Rounded"/>
                <a:ea typeface="Arial Rounded"/>
                <a:cs typeface="Arial Rounded"/>
                <a:sym typeface="Arial Rounded"/>
              </a:rPr>
              <a:t> identité numérique</a:t>
            </a:r>
            <a:endParaRPr b="1" i="0" sz="2400" u="none" cap="none" strike="noStrike">
              <a:solidFill>
                <a:schemeClr val="dk1"/>
              </a:solidFill>
              <a:latin typeface="Arial Rounded"/>
              <a:ea typeface="Arial Rounded"/>
              <a:cs typeface="Arial Rounded"/>
              <a:sym typeface="Arial Rounded"/>
            </a:endParaRPr>
          </a:p>
        </p:txBody>
      </p:sp>
      <p:sp>
        <p:nvSpPr>
          <p:cNvPr id="303" name="Google Shape;303;p13"/>
          <p:cNvSpPr txBox="1"/>
          <p:nvPr/>
        </p:nvSpPr>
        <p:spPr>
          <a:xfrm>
            <a:off x="333359" y="1560946"/>
            <a:ext cx="6780134" cy="336775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4 sujets : 	-La </a:t>
            </a:r>
            <a:r>
              <a:rPr lang="fr-FR" sz="1100">
                <a:solidFill>
                  <a:schemeClr val="dk1"/>
                </a:solidFill>
                <a:latin typeface="Trebuchet MS"/>
                <a:ea typeface="Trebuchet MS"/>
                <a:cs typeface="Trebuchet MS"/>
                <a:sym typeface="Trebuchet MS"/>
              </a:rPr>
              <a:t>cybersécurité</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-L'intelligence artificielle</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-La législation</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-Le développement de compétences techniques</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 Formation continue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Certification SecNumAcadémie</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Formations OpenClassrooms</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Approfondissement Access / VBA</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Veille </a:t>
            </a:r>
            <a:r>
              <a:rPr lang="fr-FR" sz="1100">
                <a:solidFill>
                  <a:schemeClr val="dk1"/>
                </a:solidFill>
                <a:latin typeface="Trebuchet MS"/>
                <a:ea typeface="Trebuchet MS"/>
                <a:cs typeface="Trebuchet MS"/>
                <a:sym typeface="Trebuchet MS"/>
              </a:rPr>
              <a:t>réglementaire</a:t>
            </a:r>
            <a:r>
              <a:rPr lang="fr-FR" sz="1100">
                <a:solidFill>
                  <a:schemeClr val="dk1"/>
                </a:solidFill>
                <a:latin typeface="Trebuchet MS"/>
                <a:ea typeface="Trebuchet MS"/>
                <a:cs typeface="Trebuchet MS"/>
                <a:sym typeface="Trebuchet MS"/>
              </a:rPr>
              <a:t> et technique</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Évolution des outils de développement via flux RSS et Feedly</a:t>
            </a:r>
            <a:endParaRPr/>
          </a:p>
          <a:p>
            <a:pPr indent="0" lvl="0" marL="0" marR="0" rtl="0" algn="l">
              <a:spcBef>
                <a:spcPts val="0"/>
              </a:spcBef>
              <a:spcAft>
                <a:spcPts val="0"/>
              </a:spcAft>
              <a:buNone/>
            </a:pPr>
            <a:r>
              <a:rPr lang="fr-FR" sz="1100">
                <a:solidFill>
                  <a:schemeClr val="dk1"/>
                </a:solidFill>
                <a:latin typeface="Trebuchet MS"/>
                <a:ea typeface="Trebuchet MS"/>
                <a:cs typeface="Trebuchet MS"/>
                <a:sym typeface="Trebuchet MS"/>
              </a:rPr>
              <a:t>	Cybersécurité</a:t>
            </a:r>
            <a:endParaRPr/>
          </a:p>
          <a:p>
            <a:pPr indent="457200" lvl="0" marL="0" rtl="0" algn="l">
              <a:spcBef>
                <a:spcPts val="0"/>
              </a:spcBef>
              <a:spcAft>
                <a:spcPts val="0"/>
              </a:spcAft>
              <a:buClr>
                <a:schemeClr val="dk1"/>
              </a:buClr>
              <a:buFont typeface="Arial"/>
              <a:buNone/>
            </a:pPr>
            <a:r>
              <a:rPr lang="fr-FR" sz="1100">
                <a:solidFill>
                  <a:schemeClr val="dk1"/>
                </a:solidFill>
                <a:latin typeface="Trebuchet MS"/>
                <a:ea typeface="Trebuchet MS"/>
                <a:cs typeface="Trebuchet MS"/>
                <a:sym typeface="Trebuchet MS"/>
              </a:rPr>
              <a:t>Utilisation de l’IA </a:t>
            </a:r>
            <a:endParaRPr sz="1100">
              <a:solidFill>
                <a:schemeClr val="dk1"/>
              </a:solidFill>
              <a:latin typeface="Trebuchet MS"/>
              <a:ea typeface="Trebuchet MS"/>
              <a:cs typeface="Trebuchet MS"/>
              <a:sym typeface="Trebuchet MS"/>
            </a:endParaRPr>
          </a:p>
          <a:p>
            <a:pPr indent="0" lvl="0" marL="0" rtl="0" algn="l">
              <a:spcBef>
                <a:spcPts val="0"/>
              </a:spcBef>
              <a:spcAft>
                <a:spcPts val="0"/>
              </a:spcAft>
              <a:buClr>
                <a:schemeClr val="dk1"/>
              </a:buClr>
              <a:buFont typeface="Arial"/>
              <a:buNone/>
            </a:pPr>
            <a:r>
              <a:t/>
            </a:r>
            <a:endParaRPr sz="11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t/>
            </a:r>
            <a:endParaRPr sz="1100">
              <a:solidFill>
                <a:schemeClr val="dk1"/>
              </a:solidFill>
              <a:latin typeface="Trebuchet MS"/>
              <a:ea typeface="Trebuchet MS"/>
              <a:cs typeface="Trebuchet MS"/>
              <a:sym typeface="Trebuchet MS"/>
            </a:endParaRPr>
          </a:p>
        </p:txBody>
      </p:sp>
      <p:sp>
        <p:nvSpPr>
          <p:cNvPr id="304" name="Google Shape;304;p13"/>
          <p:cNvSpPr/>
          <p:nvPr/>
        </p:nvSpPr>
        <p:spPr>
          <a:xfrm>
            <a:off x="7727795" y="2605203"/>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Mise à Disposition des utilisateurs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305" name="Google Shape;305;p13"/>
          <p:cNvSpPr/>
          <p:nvPr/>
        </p:nvSpPr>
        <p:spPr>
          <a:xfrm>
            <a:off x="7727795" y="196349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Test et gestion des versions</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306" name="Google Shape;306;p13"/>
          <p:cNvSpPr/>
          <p:nvPr/>
        </p:nvSpPr>
        <p:spPr>
          <a:xfrm>
            <a:off x="7727795" y="1384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Développement</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Logiciel</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307" name="Google Shape;307;p13"/>
          <p:cNvSpPr/>
          <p:nvPr/>
        </p:nvSpPr>
        <p:spPr>
          <a:xfrm>
            <a:off x="7727795" y="727314"/>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Organisation du projet</a:t>
            </a:r>
            <a:endParaRPr/>
          </a:p>
          <a:p>
            <a:pPr indent="0" lvl="0" marL="0" marR="0" rtl="0" algn="ctr">
              <a:spcBef>
                <a:spcPts val="0"/>
              </a:spcBef>
              <a:spcAft>
                <a:spcPts val="0"/>
              </a:spcAft>
              <a:buNone/>
            </a:pPr>
            <a:r>
              <a:t/>
            </a:r>
            <a:endParaRPr sz="1100">
              <a:solidFill>
                <a:schemeClr val="lt1"/>
              </a:solidFill>
              <a:latin typeface="Trebuchet MS"/>
              <a:ea typeface="Trebuchet MS"/>
              <a:cs typeface="Trebuchet MS"/>
              <a:sym typeface="Trebuchet MS"/>
            </a:endParaRPr>
          </a:p>
        </p:txBody>
      </p:sp>
      <p:sp>
        <p:nvSpPr>
          <p:cNvPr id="308" name="Google Shape;308;p13"/>
          <p:cNvSpPr/>
          <p:nvPr/>
        </p:nvSpPr>
        <p:spPr>
          <a:xfrm>
            <a:off x="7727795" y="46652"/>
            <a:ext cx="1282391" cy="823144"/>
          </a:xfrm>
          <a:prstGeom prst="flowChartOffpageConnector">
            <a:avLst/>
          </a:prstGeom>
          <a:solidFill>
            <a:schemeClr val="accent1"/>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Analyse d’un SI</a:t>
            </a:r>
            <a:endParaRPr/>
          </a:p>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Modélisation</a:t>
            </a:r>
            <a:endParaRPr/>
          </a:p>
        </p:txBody>
      </p:sp>
      <p:sp>
        <p:nvSpPr>
          <p:cNvPr id="309" name="Google Shape;309;p13"/>
          <p:cNvSpPr/>
          <p:nvPr/>
        </p:nvSpPr>
        <p:spPr>
          <a:xfrm>
            <a:off x="7716644" y="3490331"/>
            <a:ext cx="1282391" cy="823144"/>
          </a:xfrm>
          <a:prstGeom prst="flowChartOffpageConnector">
            <a:avLst/>
          </a:prstGeom>
          <a:solidFill>
            <a:srgbClr val="F39BC7"/>
          </a:solidFill>
          <a:ln cap="rnd" cmpd="sng" w="19050">
            <a:solidFill>
              <a:srgbClr val="2855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100">
                <a:solidFill>
                  <a:schemeClr val="lt1"/>
                </a:solidFill>
                <a:latin typeface="Trebuchet MS"/>
                <a:ea typeface="Trebuchet MS"/>
                <a:cs typeface="Trebuchet MS"/>
                <a:sym typeface="Trebuchet MS"/>
              </a:rPr>
              <a:t>Communication</a:t>
            </a:r>
            <a:endParaRPr/>
          </a:p>
        </p:txBody>
      </p:sp>
      <p:sp>
        <p:nvSpPr>
          <p:cNvPr id="310" name="Google Shape;310;p13"/>
          <p:cNvSpPr txBox="1"/>
          <p:nvPr/>
        </p:nvSpPr>
        <p:spPr>
          <a:xfrm>
            <a:off x="333359" y="1181143"/>
            <a:ext cx="8060400" cy="369300"/>
          </a:xfrm>
          <a:prstGeom prst="rect">
            <a:avLst/>
          </a:prstGeom>
          <a:noFill/>
          <a:ln>
            <a:noFill/>
          </a:ln>
        </p:spPr>
        <p:txBody>
          <a:bodyPr anchorCtr="0" anchor="t" bIns="45700" lIns="91425" spcFirstLastPara="1" rIns="91425" wrap="square" tIns="45700">
            <a:spAutoFit/>
          </a:bodyPr>
          <a:lstStyle/>
          <a:p>
            <a:pPr indent="0" lvl="0" marL="47880" marR="0" rtl="0" algn="l">
              <a:lnSpc>
                <a:spcPct val="120000"/>
              </a:lnSpc>
              <a:spcBef>
                <a:spcPts val="0"/>
              </a:spcBef>
              <a:spcAft>
                <a:spcPts val="0"/>
              </a:spcAft>
              <a:buNone/>
            </a:pPr>
            <a:r>
              <a:rPr lang="fr-FR" sz="1800">
                <a:solidFill>
                  <a:schemeClr val="dk1"/>
                </a:solidFill>
              </a:rPr>
              <a:t>Ma formation en continue</a:t>
            </a:r>
            <a:endParaRPr sz="1800" u="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4" title="futuristic-technology-hologram (1).jpg"/>
          <p:cNvSpPr/>
          <p:nvPr/>
        </p:nvSpPr>
        <p:spPr>
          <a:xfrm>
            <a:off x="6685518" y="329453"/>
            <a:ext cx="2142476" cy="2977094"/>
          </a:xfrm>
          <a:prstGeom prst="roundRect">
            <a:avLst>
              <a:gd fmla="val 6782" name="adj"/>
            </a:avLst>
          </a:prstGeom>
          <a:blipFill rotWithShape="1">
            <a:blip r:embed="rId3">
              <a:alphaModFix/>
            </a:blip>
            <a:stretch>
              <a:fillRect b="0" l="0" r="0" t="0"/>
            </a:stretch>
          </a:blip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7" name="Google Shape;317;p14"/>
          <p:cNvSpPr txBox="1"/>
          <p:nvPr>
            <p:ph type="title"/>
          </p:nvPr>
        </p:nvSpPr>
        <p:spPr>
          <a:xfrm>
            <a:off x="371242" y="329453"/>
            <a:ext cx="5863766" cy="593941"/>
          </a:xfrm>
          <a:prstGeom prst="rect">
            <a:avLst/>
          </a:prstGeom>
          <a:noFill/>
          <a:ln>
            <a:noFill/>
          </a:ln>
        </p:spPr>
        <p:txBody>
          <a:bodyPr anchorCtr="0" anchor="t" bIns="91425" lIns="91425" spcFirstLastPara="1" rIns="91425" wrap="square" tIns="91425">
            <a:noAutofit/>
          </a:bodyPr>
          <a:lstStyle/>
          <a:p>
            <a:pPr indent="-457200" lvl="0" marL="714375" marR="0" rtl="0" algn="l">
              <a:lnSpc>
                <a:spcPct val="90000"/>
              </a:lnSpc>
              <a:spcBef>
                <a:spcPts val="0"/>
              </a:spcBef>
              <a:spcAft>
                <a:spcPts val="0"/>
              </a:spcAft>
              <a:buClr>
                <a:schemeClr val="accent1"/>
              </a:buClr>
              <a:buSzPts val="1920"/>
              <a:buFont typeface="Noto Sans Symbols"/>
              <a:buChar char="►"/>
            </a:pPr>
            <a:r>
              <a:rPr b="1" i="0" lang="fr-FR" sz="2400" u="none" cap="none" strike="noStrike">
                <a:solidFill>
                  <a:schemeClr val="dk1"/>
                </a:solidFill>
                <a:latin typeface="Arial Rounded"/>
                <a:ea typeface="Arial Rounded"/>
                <a:cs typeface="Arial Rounded"/>
                <a:sym typeface="Arial Rounded"/>
              </a:rPr>
              <a:t>3- Conclusion</a:t>
            </a:r>
            <a:endParaRPr b="1" i="0" sz="2400" u="none" cap="none" strike="noStrike">
              <a:solidFill>
                <a:schemeClr val="dk1"/>
              </a:solidFill>
              <a:latin typeface="Arial Rounded"/>
              <a:ea typeface="Arial Rounded"/>
              <a:cs typeface="Arial Rounded"/>
              <a:sym typeface="Arial Rounded"/>
            </a:endParaRPr>
          </a:p>
        </p:txBody>
      </p:sp>
      <p:sp>
        <p:nvSpPr>
          <p:cNvPr id="318" name="Google Shape;318;p14"/>
          <p:cNvSpPr txBox="1"/>
          <p:nvPr/>
        </p:nvSpPr>
        <p:spPr>
          <a:xfrm>
            <a:off x="493775" y="839274"/>
            <a:ext cx="5602225" cy="40254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1800"/>
              <a:buFont typeface="Arial"/>
              <a:buNone/>
            </a:pPr>
            <a:r>
              <a:rPr lang="fr-FR" sz="1800">
                <a:solidFill>
                  <a:schemeClr val="dk1"/>
                </a:solidFill>
                <a:latin typeface="Calibri"/>
                <a:ea typeface="Calibri"/>
                <a:cs typeface="Calibri"/>
                <a:sym typeface="Calibri"/>
              </a:rPr>
              <a:t>Ces expériences m’ont permis :</a:t>
            </a:r>
            <a:endParaRPr sz="1800">
              <a:solidFill>
                <a:schemeClr val="dk1"/>
              </a:solidFill>
              <a:latin typeface="Calibri"/>
              <a:ea typeface="Calibri"/>
              <a:cs typeface="Calibri"/>
              <a:sym typeface="Calibri"/>
            </a:endParaRPr>
          </a:p>
        </p:txBody>
      </p:sp>
      <p:sp>
        <p:nvSpPr>
          <p:cNvPr id="319" name="Google Shape;319;p14"/>
          <p:cNvSpPr txBox="1"/>
          <p:nvPr/>
        </p:nvSpPr>
        <p:spPr>
          <a:xfrm>
            <a:off x="632783" y="3105274"/>
            <a:ext cx="5602225" cy="40254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1800"/>
              <a:buFont typeface="Arial"/>
              <a:buNone/>
            </a:pPr>
            <a:r>
              <a:rPr lang="fr-FR" sz="1800">
                <a:solidFill>
                  <a:schemeClr val="dk1"/>
                </a:solidFill>
                <a:latin typeface="Calibri"/>
                <a:ea typeface="Calibri"/>
                <a:cs typeface="Calibri"/>
                <a:sym typeface="Calibri"/>
              </a:rPr>
              <a:t>Cela me permettra :</a:t>
            </a:r>
            <a:endParaRPr/>
          </a:p>
        </p:txBody>
      </p:sp>
      <p:sp>
        <p:nvSpPr>
          <p:cNvPr id="320" name="Google Shape;320;p14"/>
          <p:cNvSpPr/>
          <p:nvPr/>
        </p:nvSpPr>
        <p:spPr>
          <a:xfrm>
            <a:off x="1106673" y="1241820"/>
            <a:ext cx="5863766" cy="1754326"/>
          </a:xfrm>
          <a:prstGeom prst="rect">
            <a:avLst/>
          </a:prstGeom>
          <a:noFill/>
          <a:ln>
            <a:noFill/>
          </a:ln>
        </p:spPr>
        <p:txBody>
          <a:bodyPr anchorCtr="0" anchor="ctr" bIns="45700" lIns="91425" spcFirstLastPara="1" rIns="91425" wrap="square" tIns="45700">
            <a:spAutoFit/>
          </a:bodyPr>
          <a:lstStyle/>
          <a:p>
            <a:pPr indent="-76200" lvl="0" marL="0" marR="0" rtl="0" algn="l">
              <a:lnSpc>
                <a:spcPct val="100000"/>
              </a:lnSpc>
              <a:spcBef>
                <a:spcPts val="0"/>
              </a:spcBef>
              <a:spcAft>
                <a:spcPts val="0"/>
              </a:spcAft>
              <a:buClr>
                <a:schemeClr val="dk1"/>
              </a:buClr>
              <a:buSzPts val="1200"/>
              <a:buFont typeface="Trebuchet MS"/>
              <a:buChar char="•"/>
            </a:pPr>
            <a:r>
              <a:rPr lang="fr-FR" sz="1200">
                <a:solidFill>
                  <a:schemeClr val="dk1"/>
                </a:solidFill>
                <a:latin typeface="Trebuchet MS"/>
                <a:ea typeface="Trebuchet MS"/>
                <a:cs typeface="Trebuchet MS"/>
                <a:sym typeface="Trebuchet MS"/>
              </a:rPr>
              <a:t>Analyser un métier et ses processus</a:t>
            </a:r>
            <a:endParaRPr/>
          </a:p>
          <a:p>
            <a:pPr indent="0" lvl="0" marL="0" marR="0" rtl="0" algn="l">
              <a:lnSpc>
                <a:spcPct val="100000"/>
              </a:lnSpc>
              <a:spcBef>
                <a:spcPts val="0"/>
              </a:spcBef>
              <a:spcAft>
                <a:spcPts val="0"/>
              </a:spcAft>
              <a:buNone/>
            </a:pPr>
            <a:r>
              <a:t/>
            </a:r>
            <a:endParaRPr sz="1200">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lang="fr-FR" sz="1200">
                <a:solidFill>
                  <a:schemeClr val="dk1"/>
                </a:solidFill>
                <a:latin typeface="Trebuchet MS"/>
                <a:ea typeface="Trebuchet MS"/>
                <a:cs typeface="Trebuchet MS"/>
                <a:sym typeface="Trebuchet MS"/>
              </a:rPr>
              <a:t>Structurer et modéliser un système d’information</a:t>
            </a:r>
            <a:endParaRPr/>
          </a:p>
          <a:p>
            <a:pPr indent="0" lvl="0" marL="0" marR="0" rtl="0" algn="l">
              <a:lnSpc>
                <a:spcPct val="100000"/>
              </a:lnSpc>
              <a:spcBef>
                <a:spcPts val="0"/>
              </a:spcBef>
              <a:spcAft>
                <a:spcPts val="0"/>
              </a:spcAft>
              <a:buNone/>
            </a:pPr>
            <a:r>
              <a:t/>
            </a:r>
            <a:endParaRPr sz="1200">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lang="fr-FR" sz="1200">
                <a:solidFill>
                  <a:schemeClr val="dk1"/>
                </a:solidFill>
                <a:latin typeface="Trebuchet MS"/>
                <a:ea typeface="Trebuchet MS"/>
                <a:cs typeface="Trebuchet MS"/>
                <a:sym typeface="Trebuchet MS"/>
              </a:rPr>
              <a:t>Travailler en équipe dans un cadre projet</a:t>
            </a:r>
            <a:endParaRPr/>
          </a:p>
          <a:p>
            <a:pPr indent="0" lvl="0" marL="0" marR="0" rtl="0" algn="l">
              <a:lnSpc>
                <a:spcPct val="100000"/>
              </a:lnSpc>
              <a:spcBef>
                <a:spcPts val="0"/>
              </a:spcBef>
              <a:spcAft>
                <a:spcPts val="0"/>
              </a:spcAft>
              <a:buNone/>
            </a:pPr>
            <a:r>
              <a:t/>
            </a:r>
            <a:endParaRPr sz="1200">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lang="fr-FR" sz="1200">
                <a:solidFill>
                  <a:schemeClr val="dk1"/>
                </a:solidFill>
                <a:latin typeface="Trebuchet MS"/>
                <a:ea typeface="Trebuchet MS"/>
                <a:cs typeface="Trebuchet MS"/>
                <a:sym typeface="Trebuchet MS"/>
              </a:rPr>
              <a:t>Concevoir et sécuriser une application</a:t>
            </a:r>
            <a:endParaRPr/>
          </a:p>
          <a:p>
            <a:pPr indent="0" lvl="0" marL="0" marR="0" rtl="0" algn="l">
              <a:lnSpc>
                <a:spcPct val="100000"/>
              </a:lnSpc>
              <a:spcBef>
                <a:spcPts val="0"/>
              </a:spcBef>
              <a:spcAft>
                <a:spcPts val="0"/>
              </a:spcAft>
              <a:buNone/>
            </a:pPr>
            <a:r>
              <a:t/>
            </a:r>
            <a:endParaRPr sz="1200">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lang="fr-FR" sz="1200">
                <a:solidFill>
                  <a:schemeClr val="dk1"/>
                </a:solidFill>
                <a:latin typeface="Trebuchet MS"/>
                <a:ea typeface="Trebuchet MS"/>
                <a:cs typeface="Trebuchet MS"/>
                <a:sym typeface="Trebuchet MS"/>
              </a:rPr>
              <a:t>Mettre à disposition un service auprès des utilisateurs</a:t>
            </a:r>
            <a:endParaRPr/>
          </a:p>
        </p:txBody>
      </p:sp>
      <p:sp>
        <p:nvSpPr>
          <p:cNvPr id="321" name="Google Shape;321;p14"/>
          <p:cNvSpPr/>
          <p:nvPr/>
        </p:nvSpPr>
        <p:spPr>
          <a:xfrm>
            <a:off x="1063692" y="3499787"/>
            <a:ext cx="7494464" cy="1015663"/>
          </a:xfrm>
          <a:prstGeom prst="rect">
            <a:avLst/>
          </a:prstGeom>
          <a:noFill/>
          <a:ln>
            <a:noFill/>
          </a:ln>
        </p:spPr>
        <p:txBody>
          <a:bodyPr anchorCtr="0" anchor="ctr" bIns="45700" lIns="91425" spcFirstLastPara="1" rIns="91425" wrap="square" tIns="45700">
            <a:spAutoFit/>
          </a:bodyPr>
          <a:lstStyle/>
          <a:p>
            <a:pPr indent="-76200" lvl="0" marL="0" marR="0" rtl="0" algn="l">
              <a:lnSpc>
                <a:spcPct val="100000"/>
              </a:lnSpc>
              <a:spcBef>
                <a:spcPts val="0"/>
              </a:spcBef>
              <a:spcAft>
                <a:spcPts val="0"/>
              </a:spcAft>
              <a:buClr>
                <a:schemeClr val="dk1"/>
              </a:buClr>
              <a:buSzPts val="1200"/>
              <a:buFont typeface="Trebuchet MS"/>
              <a:buChar char="•"/>
            </a:pPr>
            <a:r>
              <a:rPr b="0" i="0" lang="fr-FR" sz="1200" u="none" cap="none" strike="noStrike">
                <a:solidFill>
                  <a:schemeClr val="dk1"/>
                </a:solidFill>
                <a:latin typeface="Trebuchet MS"/>
                <a:ea typeface="Trebuchet MS"/>
                <a:cs typeface="Trebuchet MS"/>
                <a:sym typeface="Trebuchet MS"/>
              </a:rPr>
              <a:t>Développer des outils adaptés aux besoins réels du médico-social</a:t>
            </a:r>
            <a:endParaRPr/>
          </a:p>
          <a:p>
            <a:pPr indent="0" lvl="0" marL="0" marR="0" rtl="0" algn="l">
              <a:lnSpc>
                <a:spcPct val="100000"/>
              </a:lnSpc>
              <a:spcBef>
                <a:spcPts val="0"/>
              </a:spcBef>
              <a:spcAft>
                <a:spcPts val="0"/>
              </a:spcAft>
              <a:buClr>
                <a:schemeClr val="dk1"/>
              </a:buClr>
              <a:buSzPts val="1200"/>
              <a:buFont typeface="Trebuchet MS"/>
              <a:buNone/>
            </a:pPr>
            <a:r>
              <a:t/>
            </a:r>
            <a:endParaRPr b="0" i="0" sz="1200" u="none" cap="none" strike="noStrike">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b="0" i="0" lang="fr-FR" sz="1200" u="none" cap="none" strike="noStrike">
                <a:solidFill>
                  <a:schemeClr val="dk1"/>
                </a:solidFill>
                <a:latin typeface="Trebuchet MS"/>
                <a:ea typeface="Trebuchet MS"/>
                <a:cs typeface="Trebuchet MS"/>
                <a:sym typeface="Trebuchet MS"/>
              </a:rPr>
              <a:t>Contribuer à la montée en compétence des usagers</a:t>
            </a:r>
            <a:endParaRPr/>
          </a:p>
          <a:p>
            <a:pPr indent="0" lvl="0" marL="0" marR="0" rtl="0" algn="l">
              <a:lnSpc>
                <a:spcPct val="100000"/>
              </a:lnSpc>
              <a:spcBef>
                <a:spcPts val="0"/>
              </a:spcBef>
              <a:spcAft>
                <a:spcPts val="0"/>
              </a:spcAft>
              <a:buClr>
                <a:schemeClr val="dk1"/>
              </a:buClr>
              <a:buSzPts val="1200"/>
              <a:buFont typeface="Trebuchet MS"/>
              <a:buNone/>
            </a:pPr>
            <a:r>
              <a:t/>
            </a:r>
            <a:endParaRPr b="0" i="0" sz="1200" u="none" cap="none" strike="noStrike">
              <a:solidFill>
                <a:schemeClr val="dk1"/>
              </a:solidFill>
              <a:latin typeface="Trebuchet MS"/>
              <a:ea typeface="Trebuchet MS"/>
              <a:cs typeface="Trebuchet MS"/>
              <a:sym typeface="Trebuchet MS"/>
            </a:endParaRPr>
          </a:p>
          <a:p>
            <a:pPr indent="-76200" lvl="0" marL="0" marR="0" rtl="0" algn="l">
              <a:lnSpc>
                <a:spcPct val="100000"/>
              </a:lnSpc>
              <a:spcBef>
                <a:spcPts val="0"/>
              </a:spcBef>
              <a:spcAft>
                <a:spcPts val="0"/>
              </a:spcAft>
              <a:buClr>
                <a:schemeClr val="dk1"/>
              </a:buClr>
              <a:buSzPts val="1200"/>
              <a:buFont typeface="Trebuchet MS"/>
              <a:buChar char="•"/>
            </a:pPr>
            <a:r>
              <a:rPr b="0" i="0" lang="fr-FR" sz="1200" u="none" cap="none" strike="noStrike">
                <a:solidFill>
                  <a:schemeClr val="dk1"/>
                </a:solidFill>
                <a:latin typeface="Trebuchet MS"/>
                <a:ea typeface="Trebuchet MS"/>
                <a:cs typeface="Trebuchet MS"/>
                <a:sym typeface="Trebuchet MS"/>
              </a:rPr>
              <a:t>Participer à la pérennité et au développement des ESAT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cd5ad70b5a_0_0"/>
          <p:cNvSpPr txBox="1"/>
          <p:nvPr>
            <p:ph type="title"/>
          </p:nvPr>
        </p:nvSpPr>
        <p:spPr>
          <a:xfrm>
            <a:off x="3105842" y="3659653"/>
            <a:ext cx="5863800" cy="5940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b="1" lang="fr-FR" sz="2400">
                <a:solidFill>
                  <a:schemeClr val="dk1"/>
                </a:solidFill>
                <a:latin typeface="Arial Rounded"/>
                <a:ea typeface="Arial Rounded"/>
                <a:cs typeface="Arial Rounded"/>
                <a:sym typeface="Arial Rounded"/>
              </a:rPr>
              <a:t>Merci de votre écoute.</a:t>
            </a:r>
            <a:endParaRPr b="1" i="0" sz="24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te">
  <a:themeElements>
    <a:clrScheme name="Facette">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Slides">
    <vt:r8>14.0</vt:r8>
  </property>
</Properties>
</file>